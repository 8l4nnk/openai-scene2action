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53aeeed10065404e" /><Relationship Type="http://schemas.openxmlformats.org/officeDocument/2006/relationships/extended-properties" Target="/docProps/app.xml" Id="R61dc9784b78c4773" /><Relationship Type="http://schemas.openxmlformats.org/officeDocument/2006/relationships/officeDocument" Target="/ppt/presentation.xml" Id="R54cb102d783f4289" /></Relationships>
</file>

<file path=ppt/presentation.xml><?xml version="1.0" encoding="utf-8"?>
<p:presentation xmlns:p="http://schemas.openxmlformats.org/presentationml/2006/main">
  <p:sldMasterIdLst>
    <p:sldMasterId xmlns:r="http://schemas.openxmlformats.org/officeDocument/2006/relationships" id="2147483648" r:id="R257f03e45a384593"/>
  </p:sldMasterIdLst>
  <p:notesMasterIdLst>
    <p:notesMasterId xmlns:r="http://schemas.openxmlformats.org/officeDocument/2006/relationships" r:id="R8cdcf85792024f03"/>
  </p:notesMasterIdLst>
  <p:sldIdLst>
    <p:sldId xmlns:r="http://schemas.openxmlformats.org/officeDocument/2006/relationships" id="256" r:id="R88830782596e42cd"/>
    <p:sldId xmlns:r="http://schemas.openxmlformats.org/officeDocument/2006/relationships" id="257" r:id="R7b4e60eafdee4a92"/>
    <p:sldId xmlns:r="http://schemas.openxmlformats.org/officeDocument/2006/relationships" id="258" r:id="R696883dc70e846ab"/>
    <p:sldId xmlns:r="http://schemas.openxmlformats.org/officeDocument/2006/relationships" id="259" r:id="R9cbeaa1815e2407a"/>
    <p:sldId xmlns:r="http://schemas.openxmlformats.org/officeDocument/2006/relationships" id="260" r:id="R75ce996dddaa40d2"/>
    <p:sldId xmlns:r="http://schemas.openxmlformats.org/officeDocument/2006/relationships" id="261" r:id="R52f96912536e4247"/>
    <p:sldId xmlns:r="http://schemas.openxmlformats.org/officeDocument/2006/relationships" id="262" r:id="R35546e7ef9964003"/>
    <p:sldId xmlns:r="http://schemas.openxmlformats.org/officeDocument/2006/relationships" id="263" r:id="R40e481b9e0eb4d85"/>
    <p:sldId xmlns:r="http://schemas.openxmlformats.org/officeDocument/2006/relationships" id="264" r:id="Rc672ecef6efc4f22"/>
    <p:sldId xmlns:r="http://schemas.openxmlformats.org/officeDocument/2006/relationships" id="265" r:id="Rbd4208c52b0a4df7"/>
    <p:sldId xmlns:r="http://schemas.openxmlformats.org/officeDocument/2006/relationships" id="266" r:id="Ra354745f4b094366"/>
    <p:sldId xmlns:r="http://schemas.openxmlformats.org/officeDocument/2006/relationships" id="267" r:id="R41bf4ffb6e474dda"/>
    <p:sldId xmlns:r="http://schemas.openxmlformats.org/officeDocument/2006/relationships" id="268" r:id="R97b7899e7a6c4567"/>
    <p:sldId xmlns:r="http://schemas.openxmlformats.org/officeDocument/2006/relationships" id="269" r:id="R105c972769b749ff"/>
    <p:sldId xmlns:r="http://schemas.openxmlformats.org/officeDocument/2006/relationships" id="270" r:id="Ra063f8966b604989"/>
    <p:sldId xmlns:r="http://schemas.openxmlformats.org/officeDocument/2006/relationships" id="271" r:id="R565d3bd9a6cd4bb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b10f58a76141fb" /><Relationship Type="http://schemas.openxmlformats.org/officeDocument/2006/relationships/slideMaster" Target="/ppt/slideMasters/slideMaster1.xml" Id="R257f03e45a384593" /><Relationship Type="http://schemas.openxmlformats.org/officeDocument/2006/relationships/notesMaster" Target="/ppt/notesMasters/notesMaster1.xml" Id="R8cdcf85792024f03" /><Relationship Type="http://schemas.openxmlformats.org/officeDocument/2006/relationships/presProps" Target="/ppt/presProps.xml" Id="R12ce37faa5664bfd" /><Relationship Type="http://schemas.openxmlformats.org/officeDocument/2006/relationships/tableStyles" Target="/ppt/tableStyles.xml" Id="R5d318f3820f14edf" /><Relationship Type="http://schemas.openxmlformats.org/officeDocument/2006/relationships/slide" Target="/ppt/slides/slide1.xml" Id="R88830782596e42cd" /><Relationship Type="http://schemas.openxmlformats.org/officeDocument/2006/relationships/slide" Target="/ppt/slides/slide2.xml" Id="R7b4e60eafdee4a92" /><Relationship Type="http://schemas.openxmlformats.org/officeDocument/2006/relationships/slide" Target="/ppt/slides/slide3.xml" Id="R696883dc70e846ab" /><Relationship Type="http://schemas.openxmlformats.org/officeDocument/2006/relationships/slide" Target="/ppt/slides/slide4.xml" Id="R9cbeaa1815e2407a" /><Relationship Type="http://schemas.openxmlformats.org/officeDocument/2006/relationships/slide" Target="/ppt/slides/slide5.xml" Id="R75ce996dddaa40d2" /><Relationship Type="http://schemas.openxmlformats.org/officeDocument/2006/relationships/slide" Target="/ppt/slides/slide6.xml" Id="R52f96912536e4247" /><Relationship Type="http://schemas.openxmlformats.org/officeDocument/2006/relationships/slide" Target="/ppt/slides/slide7.xml" Id="R35546e7ef9964003" /><Relationship Type="http://schemas.openxmlformats.org/officeDocument/2006/relationships/slide" Target="/ppt/slides/slide8.xml" Id="R40e481b9e0eb4d85" /><Relationship Type="http://schemas.openxmlformats.org/officeDocument/2006/relationships/slide" Target="/ppt/slides/slide9.xml" Id="Rc672ecef6efc4f22" /><Relationship Type="http://schemas.openxmlformats.org/officeDocument/2006/relationships/slide" Target="/ppt/slides/slide10.xml" Id="Rbd4208c52b0a4df7" /><Relationship Type="http://schemas.openxmlformats.org/officeDocument/2006/relationships/slide" Target="/ppt/slides/slide11.xml" Id="Ra354745f4b094366" /><Relationship Type="http://schemas.openxmlformats.org/officeDocument/2006/relationships/slide" Target="/ppt/slides/slide12.xml" Id="R41bf4ffb6e474dda" /><Relationship Type="http://schemas.openxmlformats.org/officeDocument/2006/relationships/slide" Target="/ppt/slides/slide13.xml" Id="R97b7899e7a6c4567" /><Relationship Type="http://schemas.openxmlformats.org/officeDocument/2006/relationships/slide" Target="/ppt/slides/slide14.xml" Id="R105c972769b749ff" /><Relationship Type="http://schemas.openxmlformats.org/officeDocument/2006/relationships/slide" Target="/ppt/slides/slide15.xml" Id="Ra063f8966b604989" /><Relationship Type="http://schemas.openxmlformats.org/officeDocument/2006/relationships/slide" Target="/ppt/slides/slide16.xml" Id="R565d3bd9a6cd4b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9ab1f2d66443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3c83a5943e45db" /><Relationship Type="http://schemas.openxmlformats.org/officeDocument/2006/relationships/notesMaster" Target="/ppt/notesMasters/notesMaster1.xml" Id="R15fad6dc93d948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04b876bc0a423c" /><Relationship Type="http://schemas.openxmlformats.org/officeDocument/2006/relationships/notesMaster" Target="/ppt/notesMasters/notesMaster1.xml" Id="R5152dd0fb5cd40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457c0de0b4484c" /><Relationship Type="http://schemas.openxmlformats.org/officeDocument/2006/relationships/notesMaster" Target="/ppt/notesMasters/notesMaster1.xml" Id="Rcd2fdf2bbbf543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72ee9505ae416f" /><Relationship Type="http://schemas.openxmlformats.org/officeDocument/2006/relationships/notesMaster" Target="/ppt/notesMasters/notesMaster1.xml" Id="Rf9abec3d46874e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33fb8d28244f17" /><Relationship Type="http://schemas.openxmlformats.org/officeDocument/2006/relationships/notesMaster" Target="/ppt/notesMasters/notesMaster1.xml" Id="Re674b54bc8404a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ed416ab9cb4d9f" /><Relationship Type="http://schemas.openxmlformats.org/officeDocument/2006/relationships/notesMaster" Target="/ppt/notesMasters/notesMaster1.xml" Id="R50a89925970f48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5e4480dbe94c1f" /><Relationship Type="http://schemas.openxmlformats.org/officeDocument/2006/relationships/notesMaster" Target="/ppt/notesMasters/notesMaster1.xml" Id="R008b8db53c6343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a03d1f732c4304" /><Relationship Type="http://schemas.openxmlformats.org/officeDocument/2006/relationships/notesMaster" Target="/ppt/notesMasters/notesMaster1.xml" Id="Rf0f275a68d4949c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1d5d1f8c5584133" /><Relationship Type="http://schemas.openxmlformats.org/officeDocument/2006/relationships/notesMaster" Target="/ppt/notesMasters/notesMaster1.xml" Id="R3e013a74d7e741e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46d21aefa1342a7" /><Relationship Type="http://schemas.openxmlformats.org/officeDocument/2006/relationships/notesMaster" Target="/ppt/notesMasters/notesMaster1.xml" Id="R73e9a1e7c597407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25e461dbd344c5a" /><Relationship Type="http://schemas.openxmlformats.org/officeDocument/2006/relationships/notesMaster" Target="/ppt/notesMasters/notesMaster1.xml" Id="Rc9a2689bc55b495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0a8de11a18f4875" /><Relationship Type="http://schemas.openxmlformats.org/officeDocument/2006/relationships/notesMaster" Target="/ppt/notesMasters/notesMaster1.xml" Id="Ra84c4aff81d346d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707f14079604f74" /><Relationship Type="http://schemas.openxmlformats.org/officeDocument/2006/relationships/notesMaster" Target="/ppt/notesMasters/notesMaster1.xml" Id="R38624f54568d4cb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7fca39b99c64dc4" /><Relationship Type="http://schemas.openxmlformats.org/officeDocument/2006/relationships/notesMaster" Target="/ppt/notesMasters/notesMaster1.xml" Id="R6c1e3e574f1a457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da2a1e570004ca6" /><Relationship Type="http://schemas.openxmlformats.org/officeDocument/2006/relationships/notesMaster" Target="/ppt/notesMasters/notesMaster1.xml" Id="R9aa9ca1143f040d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0e2ca71979f4253" /><Relationship Type="http://schemas.openxmlformats.org/officeDocument/2006/relationships/notesMaster" Target="/ppt/notesMasters/notesMaster1.xml" Id="Rc31697611c7a499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15초</a:t>
            </a:r>
          </a:p>
          <a:p xmlns:a="http://schemas.openxmlformats.org/drawingml/2006/main">
            <a:r>
              <a:t/>
            </a:r>
          </a:p>
          <a:p xmlns:a="http://schemas.openxmlformats.org/drawingml/2006/main">
            <a:r>
              <a:t>저희 또봇의 K-Scene2Action은 AI가 만든 로봇 작업 계획을 정상 작업 계약과 현장 제약에 대조하고, 실행 여부와 판단 근거를 제공하는 검증 계층입니다. 로봇 공정을 도입하는 공장을 고객으로 생각했습니다.</a:t>
            </a:r>
          </a:p>
          <a:p xmlns:a="http://schemas.openxmlformats.org/drawingml/2006/main">
            <a:r>
              <a:t/>
            </a:r>
          </a:p>
          <a:p xmlns:a="http://schemas.openxmlformats.org/drawingml/2006/main">
            <a:r>
              <a:t>출처: https://codex-community-korea.skysplit.chatgpt.site/hackathon/seoul-2026-10</a:t>
            </a:r>
          </a:p>
          <a:p xmlns:a="http://schemas.openxmlformats.org/drawingml/2006/main">
            <a:r>
              <a:t>표지: OpenAI image generation으로 생성한 콘셉트 이미지. 실제 Isaac Sim 캡처가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35초</a:t>
            </a:r>
          </a:p>
          <a:p xmlns:a="http://schemas.openxmlformats.org/drawingml/2006/main">
            <a:r>
              <a:t/>
            </a:r>
          </a:p>
          <a:p xmlns:a="http://schemas.openxmlformats.org/drawingml/2006/main">
            <a:r>
              <a:t>AI가 작업을 해석하는 공장에서는 지시 오류가 물리적 실행으로 이어질 수 있습니다. 위험을 사람의 안전, 설비와 공정의 안정성, 제품 품질, 중단 후 회복의 관점에서 봅니다. 정상 계약을 벗어난 실행은 사고가 발생하기 전에 검토해야 합니다. 오늘 저희가 구현한 범위는 제한된 운반 작업의 검증 프로토타입입니다.</a:t>
            </a:r>
          </a:p>
          <a:p xmlns:a="http://schemas.openxmlformats.org/drawingml/2006/main">
            <a:r>
              <a:t/>
            </a:r>
          </a:p>
          <a:p xmlns:a="http://schemas.openxmlformats.org/drawingml/2006/main">
            <a:r>
              <a:t>출처 및 증거:</a:t>
            </a:r>
          </a:p>
          <a:p xmlns:a="http://schemas.openxmlformats.org/drawingml/2006/main">
            <a:r>
              <a:t>대회 Track 1 설명 및 팀의 문제 정의. 정량적 사고 감소율은 산출하지 않음.</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35초</a:t>
            </a:r>
          </a:p>
          <a:p xmlns:a="http://schemas.openxmlformats.org/drawingml/2006/main">
            <a:r>
              <a:t/>
            </a:r>
          </a:p>
          <a:p xmlns:a="http://schemas.openxmlformats.org/drawingml/2006/main">
            <a:r>
              <a:t>정상 작업은 빨간 공을 빨간 목적지로 옮긴 뒤 파란 공을 파란 목적지로 옮기는 것입니다. 이 목표를 벗어나는 행동을 일곱 유형으로 정했습니다. 사람과 위험 도구, 파지와 운반 실패, 정지 이후의 실행을 포함합니다. 원래 데이터의 SA 번호는 부록에 보존했습니다.</a:t>
            </a:r>
          </a:p>
          <a:p xmlns:a="http://schemas.openxmlformats.org/drawingml/2006/main">
            <a:r>
              <a:t/>
            </a:r>
          </a:p>
          <a:p xmlns:a="http://schemas.openxmlformats.org/drawingml/2006/main">
            <a:r>
              <a:t>출처 및 증거:</a:t>
            </a:r>
          </a:p>
          <a:p xmlns:a="http://schemas.openxmlformats.org/drawingml/2006/main">
            <a:r>
              <a:t>사용자 정의 7개 위험 유형 / contracts/sort.json</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50초</a:t>
            </a:r>
          </a:p>
          <a:p xmlns:a="http://schemas.openxmlformats.org/drawingml/2006/main">
            <a:r>
              <a:t/>
            </a:r>
          </a:p>
          <a:p xmlns:a="http://schemas.openxmlformats.org/drawingml/2006/main">
            <a:r>
              <a:t>왼쪽 영상은 기존 모델 단독 실험에서 칼이 작업자 형상에 접촉한 사례입니다. 입력과 실행 결과를 연결한 과거 기록이며 현재 필터 우회나 실제 부상을 의미하지 않습니다. 오른쪽은 정답 기반 실행기로 빨간 공과 파란 공을 지정 구역에 배치한 정상 기준 시연입니다. 정상 영상도 오늘 Codex 기반 필터와 3D 실행이 통합됐다는 증거는 아닙니다. 두 영상의 차이를 기준으로 위험 행동은 제한하고 정상 작업은 보존하는 것이 제품 목표입니다. 영상을 왼쪽과 오른쪽 순서로 클릭해 재생합니다.</a:t>
            </a:r>
          </a:p>
          <a:p xmlns:a="http://schemas.openxmlformats.org/drawingml/2006/main">
            <a:r>
              <a:t/>
            </a:r>
          </a:p>
          <a:p xmlns:a="http://schemas.openxmlformats.org/drawingml/2006/main">
            <a:r>
              <a:t>출처: 산출물/5주차/공격데이터셋/evaluation_20260929/칼접촉_장면_md소재_20260930/시각입력_g90/qwen_MCG90-KNF-BR-RP_실행영상.mp4. 사례 MCG90-KNF-BR-RP. README 및 outcome.json은 칼 들림과 접촉을 기록하며 접촉 후 파지 유지 실패도 포함. 시뮬레이터 접촉 이벤트를 부상이나 독립 공격 성공 횟수로 해석하지 않음.</a:t>
            </a:r>
          </a:p>
          <a:p xmlns:a="http://schemas.openxmlformats.org/drawingml/2006/main">
            <a:r>
              <a:t>정상: 산출물/3주차/정상기준/demo_20260920/s05-demo-vlm-clean-01.mp4 및 같은 JSON. oracle_executor=true, full_scenario_success=true. 원본 전체를 공격 2배속, 정상 4배속으로 변환. 영상 길이 약 10.37초와 16.97초.</a:t>
            </a:r>
          </a:p>
          <a:p xmlns:a="http://schemas.openxmlformats.org/drawingml/2006/main">
            <a:r>
              <a:t>두 실험 모두 사전 자산. 추가 외부 AI 호출이나 공격 실행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35초</a:t>
            </a:r>
          </a:p>
          <a:p xmlns:a="http://schemas.openxmlformats.org/drawingml/2006/main">
            <a:r>
              <a:t/>
            </a:r>
          </a:p>
          <a:p xmlns:a="http://schemas.openxmlformats.org/drawingml/2006/main">
            <a:r>
              <a:t>솔루션의 핵심은 다단계 필터입니다. 입력과 관측이 검사 가능한지 먼저 확인합니다. 다음에는 계획이 승인한 작업의 대상과 목적지와 순서를 지키는지 대조합니다. 실제 명령으로 변환한 후에도 다시 확인하고 이동 경로를 검사합니다. 실행 중 상황이 바뀌면 정지하고 허가를 폐기합니다. 앞 단계가 통과했다고 뒤 단계를 생략하지 않으며, 정지 후에는 새 관측으로 다시 평가합니다.</a:t>
            </a:r>
          </a:p>
          <a:p xmlns:a="http://schemas.openxmlformats.org/drawingml/2006/main">
            <a:r>
              <a:t/>
            </a:r>
          </a:p>
          <a:p xmlns:a="http://schemas.openxmlformats.org/drawingml/2006/main">
            <a:r>
              <a:t>근거: 현재 scene2action/engine.py, simulator.py, models.py, geometry.py, 서버 소유 작업 계약. 기존 입력 분류 334건 집계는 보존된 비공개 결과를 사용하며 새 API 호출 없음. 입력 선별 결과는 전체 실행 필터의 방어율 또는 물리 공격 성공률이 아님. 정상 대조 없고 이미지 라벨 UNKNOWN이며 코퍼스의 SA 유형은 선정 위험 1~7과 다름. 2D 결정적 검사 구현, Codex AI 런타임과 3D 물리 통합은 미완료.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40초</a:t>
            </a:r>
          </a:p>
          <a:p xmlns:a="http://schemas.openxmlformats.org/drawingml/2006/main">
            <a:r>
              <a:t/>
            </a:r>
          </a:p>
          <a:p xmlns:a="http://schemas.openxmlformats.org/drawingml/2006/main">
            <a:r>
              <a:t>첫 필터는 입력과 현재 관측을 확인합니다. 입력 모드나 형식이 잘못됐거나 센서가 끊기면 보류합니다. 다른 작업을 실행 중이거나 초기 상태가 맞지 않아도 후속 계획 검사를 진행하지 않습니다. 검사 가능한 상태가 확인되면 다음 단계로 보냅니다. 이 단계 자체를 의미 기반 공격 탐지나 안전 보장으로 소개하지 않습니다.</a:t>
            </a:r>
          </a:p>
          <a:p xmlns:a="http://schemas.openxmlformats.org/drawingml/2006/main">
            <a:r>
              <a:t/>
            </a:r>
          </a:p>
          <a:p xmlns:a="http://schemas.openxmlformats.org/drawingml/2006/main">
            <a:r>
              <a:t>근거: 현재 scene2action/engine.py, simulator.py, models.py, geometry.py, 서버 소유 작업 계약. 기존 입력 분류 334건 집계는 보존된 비공개 결과를 사용하며 새 API 호출 없음. 입력 선별 결과는 전체 실행 필터의 방어율 또는 물리 공격 성공률이 아님. 정상 대조 없고 이미지 라벨 UNKNOWN이며 코퍼스의 SA 유형은 선정 위험 1~7과 다름. 2D 결정적 검사 구현, Codex AI 런타임과 3D 물리 통합은 미완료.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40초</a:t>
            </a:r>
          </a:p>
          <a:p xmlns:a="http://schemas.openxmlformats.org/drawingml/2006/main">
            <a:r>
              <a:t/>
            </a:r>
          </a:p>
          <a:p xmlns:a="http://schemas.openxmlformats.org/drawingml/2006/main">
            <a:r>
              <a:t>두 번째 필터는 정상 작업 계약과 계획을 대조합니다. 대상이나 목적지나 순서가 바뀌거나 작업이 추가되거나 누락되면 차단합니다. 정상 계획도 실제 명령으로 변환한 후 다시 비교합니다. 계약은 서버가 관리하며 외부 입력이 수정할 수 없습니다. 현재는 고정된 운반 작업의 정확한 일치를 검사합니다.</a:t>
            </a:r>
          </a:p>
          <a:p xmlns:a="http://schemas.openxmlformats.org/drawingml/2006/main">
            <a:r>
              <a:t/>
            </a:r>
          </a:p>
          <a:p xmlns:a="http://schemas.openxmlformats.org/drawingml/2006/main">
            <a:r>
              <a:t>근거: 현재 scene2action/engine.py, simulator.py, models.py, geometry.py, 서버 소유 작업 계약. 기존 입력 분류 334건 집계는 보존된 비공개 결과를 사용하며 새 API 호출 없음. 입력 선별 결과는 전체 실행 필터의 방어율 또는 물리 공격 성공률이 아님. 정상 대조 없고 이미지 라벨 UNKNOWN이며 코퍼스의 SA 유형은 선정 위험 1~7과 다름. 2D 결정적 검사 구현, Codex AI 런타임과 3D 물리 통합은 미완료.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40초</a:t>
            </a:r>
          </a:p>
          <a:p xmlns:a="http://schemas.openxmlformats.org/drawingml/2006/main">
            <a:r>
              <a:t/>
            </a:r>
          </a:p>
          <a:p xmlns:a="http://schemas.openxmlformats.org/drawingml/2006/main">
            <a:r>
              <a:t>세 번째 필터는 실제 이동 경로와 현재 실행 조건을 확인합니다. 경로 중간의 장애물과 작업 경계도 검사합니다. 실행 직전에 계획과 명령과 관측이 달라지거나 허가가 만료되면 다시 평가하게 합니다. 실행 중 센서 손실이나 환경 변화가 생기면 정지하고 남은 명령을 진행하지 않습니다. 기존 허가로 자동 재개할 수 없습니다. 현재 구현은 2D 경로와 로컬 제어 흐름입니다.</a:t>
            </a:r>
          </a:p>
          <a:p xmlns:a="http://schemas.openxmlformats.org/drawingml/2006/main">
            <a:r>
              <a:t/>
            </a:r>
          </a:p>
          <a:p xmlns:a="http://schemas.openxmlformats.org/drawingml/2006/main">
            <a:r>
              <a:t>근거: 현재 scene2action/engine.py, simulator.py, models.py, geometry.py, 서버 소유 작업 계약. 기존 입력 분류 334건 집계는 보존된 비공개 결과를 사용하며 새 API 호출 없음. 입력 선별 결과는 전체 실행 필터의 방어율 또는 물리 공격 성공률이 아님. 정상 대조 없고 이미지 라벨 UNKNOWN이며 코퍼스의 SA 유형은 선정 위험 1~7과 다름. 2D 결정적 검사 구현, Codex AI 런타임과 3D 물리 통합은 미완료.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40초</a:t>
            </a:r>
          </a:p>
          <a:p xmlns:a="http://schemas.openxmlformats.org/drawingml/2006/main">
            <a:r>
              <a:t/>
            </a:r>
          </a:p>
          <a:p xmlns:a="http://schemas.openxmlformats.org/drawingml/2006/main">
            <a:r>
              <a:t>기존 입력 선별 참고 실험. 전체 필터의 방어 성능은 별도 검증.</a:t>
            </a:r>
          </a:p>
          <a:p xmlns:a="http://schemas.openxmlformats.org/drawingml/2006/main">
            <a:r>
              <a:t/>
            </a:r>
          </a:p>
          <a:p xmlns:a="http://schemas.openxmlformats.org/drawingml/2006/main">
            <a:r>
              <a:t>출처 및 증거:</a:t>
            </a:r>
          </a:p>
          <a:p xmlns:a="http://schemas.openxmlformats.org/drawingml/2006/main">
            <a:r>
              <a:t>docs/corpus-validation-2026-10-09.md.</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65초</a:t>
            </a:r>
          </a:p>
          <a:p xmlns:a="http://schemas.openxmlformats.org/drawingml/2006/main">
            <a:r>
              <a:t/>
            </a:r>
          </a:p>
          <a:p xmlns:a="http://schemas.openxmlformats.org/drawingml/2006/main">
            <a:r>
              <a:t>기존 입력 선별 참고 실험. 전체 필터의 방어 성능은 별도 검증.</a:t>
            </a:r>
          </a:p>
          <a:p xmlns:a="http://schemas.openxmlformats.org/drawingml/2006/main">
            <a:r>
              <a:t/>
            </a:r>
          </a:p>
          <a:p xmlns:a="http://schemas.openxmlformats.org/drawingml/2006/main">
            <a:r>
              <a:t>출처 및 증거:</a:t>
            </a:r>
          </a:p>
          <a:p xmlns:a="http://schemas.openxmlformats.org/drawingml/2006/main">
            <a:r>
              <a:t>기존 입력 선별 참고 실험. 전체 필터의 방어 성능은 별도 검증.</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40초</a:t>
            </a:r>
          </a:p>
          <a:p xmlns:a="http://schemas.openxmlformats.org/drawingml/2006/main">
            <a:r>
              <a:t/>
            </a:r>
          </a:p>
          <a:p xmlns:a="http://schemas.openxmlformats.org/drawingml/2006/main">
            <a:r>
              <a:t>기존 입력 분류 결과의 분포입니다. 텍스트 공격 라벨 270건 중 242건을 차단했고 23건은 보류했으며 5건은 통과했습니다. 차단 비율은 89.63퍼센트입니다. 이미지 64건은 25건 차단과 30건 보류와 9건 통과입니다. 전체는 267건 차단과 53건 보류와 14건 통과입니다. 보류를 차단으로 세지 않습니다. 이 결과는 입력 선별 단계이며 전체 실행 필터의 물리 방어 성공을 뜻하지 않습니다. 정상 대조와 이미지 정답이 없어 정확도와 오탐률은 산출하지 않았습니다. 이 때문에 계획과 실제 명령과 실행 상태를 계속 검사하는 구조가 필요합니다.</a:t>
            </a:r>
          </a:p>
          <a:p xmlns:a="http://schemas.openxmlformats.org/drawingml/2006/main">
            <a:r>
              <a:t/>
            </a:r>
          </a:p>
          <a:p xmlns:a="http://schemas.openxmlformats.org/drawingml/2006/main">
            <a:r>
              <a:t>근거: 현재 scene2action/engine.py, simulator.py, models.py, geometry.py, 서버 소유 작업 계약. 기존 입력 분류 334건 집계는 보존된 비공개 결과를 사용하며 새 API 호출 없음. 입력 선별 결과는 전체 실행 필터의 방어율 또는 물리 공격 성공률이 아님. 정상 대조 없고 이미지 라벨 UNKNOWN이며 코퍼스의 SA 유형은 선정 위험 1~7과 다름. 2D 결정적 검사 구현, Codex AI 런타임과 3D 물리 통합은 미완료.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30초</a:t>
            </a:r>
          </a:p>
          <a:p xmlns:a="http://schemas.openxmlformats.org/drawingml/2006/main">
            <a:r>
              <a:t/>
            </a:r>
          </a:p>
          <a:p xmlns:a="http://schemas.openxmlformats.org/drawingml/2006/main">
            <a:r>
              <a:t>사전 자산과 오늘의 구현을 구분했습니다. 기존 아이디어와 공격 데이터, Isaac 장면은 사전 자산입니다. 오늘은 로컬 필터와 승인 제어, 실행 기록과 회귀 검증, 기하 검사 성능 개선을 진행했습니다. 구현과 문서화는 Codex를 사용하고 코드 변경은 독립 Codex 서브에이전트로 검토합니다. 기하 검사 변경은 luna 모델 max 추론 리뷰를 거쳤습니다. 커밋과 제출 시각별 증거는 마지막 제출 상태와 함께 고정해야 합니다.</a:t>
            </a:r>
          </a:p>
          <a:p xmlns:a="http://schemas.openxmlformats.org/drawingml/2006/main">
            <a:r>
              <a:t/>
            </a:r>
          </a:p>
          <a:p xmlns:a="http://schemas.openxmlformats.org/drawingml/2006/main">
            <a:r>
              <a:t>출처 및 증거:</a:t>
            </a:r>
          </a:p>
          <a:p xmlns:a="http://schemas.openxmlformats.org/drawingml/2006/main">
            <a:r>
              <a:t>AGENTS.md. 리뷰어 /root/review_native_geometry, gpt-6-luna / max. GitHub 저장소와 로컬 검증 보고서.</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35초</a:t>
            </a:r>
          </a:p>
          <a:p xmlns:a="http://schemas.openxmlformats.org/drawingml/2006/main">
            <a:r>
              <a:t/>
            </a:r>
          </a:p>
          <a:p xmlns:a="http://schemas.openxmlformats.org/drawingml/2006/main">
            <a:r>
              <a:t>공장과 로봇 SI에 공통 검증 엔진과 현장별 정상 계약, 장비 Adapter를 제공하는 방식입니다. 먼저 관찰 모드로 오탐과 지연을 측정하고 제한된 작업에 적용합니다. 다음은 Isaac 정상 기준과 필터 통합, 실패 유형별 평가, 고객 파일럿입니다. 기대 효과는 위험 명령 사전 검토와 품질 추적, 중단 원인 분석이며 실제 도입 효과는 아직 검증해야 합니다.</a:t>
            </a:r>
          </a:p>
          <a:p xmlns:a="http://schemas.openxmlformats.org/drawingml/2006/main">
            <a:r>
              <a:t/>
            </a:r>
          </a:p>
          <a:p xmlns:a="http://schemas.openxmlformats.org/drawingml/2006/main">
            <a:r>
              <a:t>출처 및 증거:</a:t>
            </a:r>
          </a:p>
          <a:p xmlns:a="http://schemas.openxmlformats.org/drawingml/2006/main">
            <a:r>
              <a:t>Track 1 도입 주체·기대 효과 / 팀 제품 가설</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0초</a:t>
            </a:r>
          </a:p>
          <a:p xmlns:a="http://schemas.openxmlformats.org/drawingml/2006/main">
            <a:r>
              <a:t/>
            </a:r>
          </a:p>
          <a:p xmlns:a="http://schemas.openxmlformats.org/drawingml/2006/main">
            <a:r>
              <a:t>발표 번호만 1부터7로 바꿨습니다. 원래 데이터와 정책 ID는 보존했습니다.</a:t>
            </a:r>
          </a:p>
          <a:p xmlns:a="http://schemas.openxmlformats.org/drawingml/2006/main">
            <a:r>
              <a:t/>
            </a:r>
          </a:p>
          <a:p xmlns:a="http://schemas.openxmlformats.org/drawingml/2006/main">
            <a:r>
              <a:t>출처 및 증거:</a:t>
            </a:r>
          </a:p>
          <a:p xmlns:a="http://schemas.openxmlformats.org/drawingml/2006/main">
            <a:r>
              <a:t>사용자 지정</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0초</a:t>
            </a:r>
          </a:p>
          <a:p xmlns:a="http://schemas.openxmlformats.org/drawingml/2006/main">
            <a:r>
              <a:t/>
            </a:r>
          </a:p>
          <a:p xmlns:a="http://schemas.openxmlformats.org/drawingml/2006/main">
            <a:r>
              <a:t>본문의 차단 분포는 기존 입력 선별 결과입니다. 평가 표본과 분모를 명시하고 보류와 오류와 차단을 구분합니다. 이미지 정답과 정상 대조가 없으며 로봇 실행은 호출하지 않았습니다. 선정 위험과 코퍼스 유형이 다르므로 해당 위험 전체의 방어 성능으로 해석할 수 없습니다.</a:t>
            </a:r>
          </a:p>
          <a:p xmlns:a="http://schemas.openxmlformats.org/drawingml/2006/main">
            <a:r>
              <a:t/>
            </a:r>
          </a:p>
          <a:p xmlns:a="http://schemas.openxmlformats.org/drawingml/2006/main">
            <a:r>
              <a:t>근거: 현재 scene2action/engine.py, simulator.py, models.py, geometry.py, 서버 소유 작업 계약. 기존 입력 분류 334건 집계는 보존된 비공개 결과를 사용하며 새 API 호출 없음. 입력 선별 결과는 전체 실행 필터의 방어율 또는 물리 공격 성공률이 아님. 정상 대조 없고 이미지 라벨 UNKNOWN이며 코퍼스의 SA 유형은 선정 위험 1~7과 다름. 2D 결정적 검사 구현, Codex AI 런타임과 3D 물리 통합은 미완료.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0초</a:t>
            </a:r>
          </a:p>
          <a:p xmlns:a="http://schemas.openxmlformats.org/drawingml/2006/main">
            <a:r>
              <a:t/>
            </a:r>
          </a:p>
          <a:p xmlns:a="http://schemas.openxmlformats.org/drawingml/2006/main">
            <a:r>
              <a:t>문제의 필요성, AI 판단, 프로토타입, 검증과 개선, 사업성, Codex 개발 과정의 여섯 기준을 담았습니다. 4분판은3분40초, 결선 본발표는7분30초로 구성하고 질의응답 시간을 남겼습니다. 제출 자료는 최종 저장소SHA와Codex기록과PDF와데모URL, 사전 및 당일 작업 구분입니다.</a:t>
            </a:r>
          </a:p>
          <a:p xmlns:a="http://schemas.openxmlformats.org/drawingml/2006/main">
            <a:r>
              <a:t/>
            </a:r>
          </a:p>
          <a:p xmlns:a="http://schemas.openxmlformats.org/drawingml/2006/main">
            <a:r>
              <a:t>출처 및 증거:</a:t>
            </a:r>
          </a:p>
          <a:p xmlns:a="http://schemas.openxmlformats.org/drawingml/2006/main">
            <a:r>
              <a:t>https://codex-community-korea.skysplit.chatgpt.site/hackathon/seoul-2026-10</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cd5d455e7744a0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e1b8e6bd4fc4fe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7afcde1a49d402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5ea4a9dab8f46d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88d8b3a3a79476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ca97dd3dee743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F14D3B-9104-4664-AD22-CE9C84F5494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A7D69F6-7CB2-4C81-B6E9-B46FE5443CD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EF3FFD8-05EC-4765-9494-7768633AA4F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15A400-D2E5-49D6-B4F2-9DDD4BE9EB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9CAF33-23EC-4B26-989D-30D9CDECDD2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18FAC8D-2BD5-4D63-A67A-68D0D032388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617E3FF-61A9-4893-AF1E-7E027280108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339736D-CD61-4853-BA7F-92F7616B16D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88A933-7C99-4EA5-904D-B4FE7D872F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BB5B641-1506-4DB9-98BB-81357C7331C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a3b59e938d4c7c" /><Relationship Type="http://schemas.openxmlformats.org/officeDocument/2006/relationships/slideLayout" Target="/ppt/slideLayouts/slideLayout1.xml" Id="R90c41836705d4554" /><Relationship Type="http://schemas.openxmlformats.org/officeDocument/2006/relationships/slideLayout" Target="/ppt/slideLayouts/slideLayout2.xml" Id="Rfbb4deeccff044be" /><Relationship Type="http://schemas.openxmlformats.org/officeDocument/2006/relationships/slideLayout" Target="/ppt/slideLayouts/slideLayout3.xml" Id="R0bbb9cac50e04ac6" /><Relationship Type="http://schemas.openxmlformats.org/officeDocument/2006/relationships/slideLayout" Target="/ppt/slideLayouts/slideLayout4.xml" Id="R6757a48c569f4bac" /><Relationship Type="http://schemas.openxmlformats.org/officeDocument/2006/relationships/slideLayout" Target="/ppt/slideLayouts/slideLayout5.xml" Id="R586a806b82b64992" /><Relationship Type="http://schemas.openxmlformats.org/officeDocument/2006/relationships/slideLayout" Target="/ppt/slideLayouts/slideLayout6.xml" Id="R98954a7c391944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c41836705d4554"/>
    <p:sldLayoutId xmlns:r="http://schemas.openxmlformats.org/officeDocument/2006/relationships" id="2147483650" r:id="Rfbb4deeccff044be"/>
    <p:sldLayoutId xmlns:r="http://schemas.openxmlformats.org/officeDocument/2006/relationships" id="2147483651" r:id="R0bbb9cac50e04ac6"/>
    <p:sldLayoutId xmlns:r="http://schemas.openxmlformats.org/officeDocument/2006/relationships" id="2147483652" r:id="R6757a48c569f4bac"/>
    <p:sldLayoutId xmlns:r="http://schemas.openxmlformats.org/officeDocument/2006/relationships" id="2147483653" r:id="R586a806b82b64992"/>
    <p:sldLayoutId xmlns:r="http://schemas.openxmlformats.org/officeDocument/2006/relationships" id="2147483654" r:id="R98954a7c391944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fec36fc73884f36" /><Relationship Type="http://schemas.openxmlformats.org/officeDocument/2006/relationships/image" Target="/ppt/media/image.png" Id="R2aec5ef39f4c4b22" /><Relationship Type="http://schemas.openxmlformats.org/officeDocument/2006/relationships/notesSlide" Target="/ppt/notesSlides/notesSlide1.xml" Id="R4c6fb52c48cc43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264bc3331714da9" /><Relationship Type="http://schemas.openxmlformats.org/officeDocument/2006/relationships/notesSlide" Target="/ppt/notesSlides/notesSlide2.xml" Id="Rff7a8d55565e40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fc73cc640fc4c17" /><Relationship Type="http://schemas.openxmlformats.org/officeDocument/2006/relationships/notesSlide" Target="/ppt/notesSlides/notesSlide3.xml" Id="R6b52e25acaf74e70" /></Relationships>
</file>

<file path=ppt/slides/_rels/slide4.xml.rels><?xml version='1.0' encoding='utf-8'?>
<Relationships xmlns="http://schemas.openxmlformats.org/package/2006/relationships"><Relationship Type="http://schemas.openxmlformats.org/officeDocument/2006/relationships/slideLayout" Target="/ppt/slideLayouts/slideLayout6.xml" Id="Rf606f850ffc74d0e" /><Relationship Type="http://schemas.openxmlformats.org/officeDocument/2006/relationships/image" Target="/ppt/media/image.jpeg" Id="Rd41c07cfad3b40fd" /><Relationship Type="http://schemas.openxmlformats.org/officeDocument/2006/relationships/image" Target="/ppt/media/image2.jpeg" Id="Rf1c5d36d042f4f11" /><Relationship Type="http://schemas.openxmlformats.org/officeDocument/2006/relationships/notesSlide" Target="/ppt/notesSlides/notesSlide4.xml" Id="R7035b8635f2146cb" /><Relationship Id="rIdVideoattack" Type="http://schemas.openxmlformats.org/officeDocument/2006/relationships/video" Target="../media/k2a-attack.mp4" /><Relationship Id="rIdMediaattack" Type="http://schemas.microsoft.com/office/2007/relationships/media" Target="../media/k2a-attack.mp4" /><Relationship Id="rIdVideonormal" Type="http://schemas.openxmlformats.org/officeDocument/2006/relationships/video" Target="../media/k2a-normal.mp4" /><Relationship Id="rIdMedianormal" Type="http://schemas.microsoft.com/office/2007/relationships/media" Target="../media/k2a-normal.mp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fbb32b059be4b94" /><Relationship Type="http://schemas.openxmlformats.org/officeDocument/2006/relationships/notesSlide" Target="/ppt/notesSlides/notesSlide5.xml" Id="R43d696d292fd43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2e0c613375a43db" /><Relationship Type="http://schemas.openxmlformats.org/officeDocument/2006/relationships/notesSlide" Target="/ppt/notesSlides/notesSlide6.xml" Id="Rdbab7152d53c4d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a24c5e798c6431c" /><Relationship Type="http://schemas.openxmlformats.org/officeDocument/2006/relationships/notesSlide" Target="/ppt/notesSlides/notesSlide7.xml" Id="R63dacf63003548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2bd8057e0c745a4" /><Relationship Type="http://schemas.openxmlformats.org/officeDocument/2006/relationships/notesSlide" Target="/ppt/notesSlides/notesSlide8.xml" Id="Rf71424cf467a407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9a58fc9c7ec4d4e" /><Relationship Type="http://schemas.openxmlformats.org/officeDocument/2006/relationships/notesSlide" Target="/ppt/notesSlides/notesSlide9.xml" Id="R039bad2ab70e4a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3107adbfbfe47ea" /><Relationship Type="http://schemas.openxmlformats.org/officeDocument/2006/relationships/image" Target="/ppt/media/image3.jpeg" Id="R78e3e549387e4a3d" /><Relationship Type="http://schemas.openxmlformats.org/officeDocument/2006/relationships/notesSlide" Target="/ppt/notesSlides/notesSlide10.xml" Id="R71a21928e6d6480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0f3df18f3c24882" /><Relationship Type="http://schemas.openxmlformats.org/officeDocument/2006/relationships/notesSlide" Target="/ppt/notesSlides/notesSlide11.xml" Id="Ra9f0f5740e044e9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a833976102c4c81" /><Relationship Type="http://schemas.openxmlformats.org/officeDocument/2006/relationships/notesSlide" Target="/ppt/notesSlides/notesSlide12.xml" Id="R8bb9c21eea6f453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6f970558cbc4aca" /><Relationship Type="http://schemas.openxmlformats.org/officeDocument/2006/relationships/notesSlide" Target="/ppt/notesSlides/notesSlide13.xml" Id="R0644cea9f435462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9805a2e5a8a47fc" /><Relationship Type="http://schemas.openxmlformats.org/officeDocument/2006/relationships/notesSlide" Target="/ppt/notesSlides/notesSlide14.xml" Id="R6ce562579b2b444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351b656b1494fbf" /><Relationship Type="http://schemas.openxmlformats.org/officeDocument/2006/relationships/notesSlide" Target="/ppt/notesSlides/notesSlide15.xml" Id="Rd78b0f4a4f0843f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c7bfb7461534d4d" /><Relationship Type="http://schemas.openxmlformats.org/officeDocument/2006/relationships/notesSlide" Target="/ppt/notesSlides/notesSlide16.xml" Id="Rf0c18fc58bfe4c71" /></Relationships>
</file>

<file path=ppt/slides/slide1.xml><?xml version="1.0" encoding="utf-8"?>
<p:sld xmlns:p="http://schemas.openxmlformats.org/presentationml/2006/main">
  <p:cSld>
    <p:bg>
      <p:bgPr>
        <a:solidFill xmlns:a="http://schemas.openxmlformats.org/drawingml/2006/main">
          <a:srgbClr val="102033"/>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3C4588C-BF49-45F5-A295-06F0C884B7C4}"/>
              </a:ext>
            </a:extLst>
          </p:cNvPr>
          <p:cNvPicPr>
            <a:picLocks xmlns:a="http://schemas.openxmlformats.org/drawingml/2006/main" noChangeAspect="1"/>
          </p:cNvPicPr>
          <p:nvPr/>
        </p:nvPicPr>
        <p:blipFill>
          <a:blip xmlns:r="http://schemas.openxmlformats.org/officeDocument/2006/relationships" xmlns:a="http://schemas.openxmlformats.org/drawingml/2006/main" r:embed="R2aec5ef39f4c4b2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6FEDFE5-235A-4A1A-BF49-8531D44DEB61}"/>
              </a:ext>
            </a:extLst>
          </p:cNvPr>
          <p:cNvSpPr>
            <a:spLocks xmlns:a="http://schemas.openxmlformats.org/drawingml/2006/main" noGrp="1"/>
          </p:cNvSpPr>
          <p:nvPr/>
        </p:nvSpPr>
        <p:spPr>
          <a:xfrm xmlns:a="http://schemas.openxmlformats.org/drawingml/2006/main">
            <a:off x="609600" y="628650"/>
            <a:ext cx="714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5DE0C0"/>
                </a:solidFill>
                <a:latin typeface="Malgun Gothic"/>
                <a:ea typeface="Malgun Gothic"/>
                <a:cs typeface="Malgun Gothic"/>
              </a:defRPr>
            </a:defPPr>
          </a:lstStyle>
          <a:p xmlns:a="http://schemas.openxmlformats.org/drawingml/2006/main">
            <a:pPr algn="l">
              <a:buNone/>
              <a:defRPr sz="1650" b="1">
                <a:solidFill>
                  <a:srgbClr val="5DE0C0"/>
                </a:solidFill>
                <a:latin typeface="Malgun Gothic"/>
                <a:ea typeface="Malgun Gothic"/>
                <a:cs typeface="Malgun Gothic"/>
              </a:defRPr>
            </a:pPr>
            <a:r>
              <a:rPr sz="1650" b="1">
                <a:solidFill>
                  <a:srgbClr val="5DE0C0"/>
                </a:solidFill>
                <a:latin typeface="Malgun Gothic"/>
                <a:ea typeface="Malgun Gothic"/>
                <a:cs typeface="Malgun Gothic"/>
              </a:rPr>
              <a:t>AI FOR SAFETY &amp; RESILIENCE</a:t>
            </a:r>
          </a:p>
        </p:txBody>
      </p:sp>
      <p:sp>
        <p:nvSpPr>
          <p:cNvPr id="3" name="">
            <a:extLst xmlns:a="http://schemas.openxmlformats.org/drawingml/2006/main">
              <a:ext uri="{FF2B5EF4-FFF2-40B4-BE49-F238E27FC236}">
                <a16:creationId xmlns:a16="http://schemas.microsoft.com/office/drawing/2014/main" id="{35053CF6-6995-49AF-BD93-A51ABB562C0A}"/>
              </a:ext>
            </a:extLst>
          </p:cNvPr>
          <p:cNvSpPr>
            <a:spLocks xmlns:a="http://schemas.openxmlformats.org/drawingml/2006/main" noGrp="1"/>
          </p:cNvSpPr>
          <p:nvPr/>
        </p:nvSpPr>
        <p:spPr>
          <a:xfrm xmlns:a="http://schemas.openxmlformats.org/drawingml/2006/main">
            <a:off x="609600" y="1571625"/>
            <a:ext cx="781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FFFFFF"/>
                </a:solidFill>
                <a:latin typeface="Malgun Gothic"/>
                <a:ea typeface="Malgun Gothic"/>
                <a:cs typeface="Malgun Gothic"/>
              </a:defRPr>
            </a:defPPr>
          </a:lstStyle>
          <a:p xmlns:a="http://schemas.openxmlformats.org/drawingml/2006/main">
            <a:pPr algn="l">
              <a:buNone/>
              <a:defRPr sz="4800" b="1">
                <a:solidFill>
                  <a:srgbClr val="FFFFFF"/>
                </a:solidFill>
                <a:latin typeface="Malgun Gothic"/>
                <a:ea typeface="Malgun Gothic"/>
                <a:cs typeface="Malgun Gothic"/>
              </a:defRPr>
            </a:pPr>
            <a:r>
              <a:rPr sz="4800" b="1">
                <a:solidFill>
                  <a:srgbClr val="FFFFFF"/>
                </a:solidFill>
                <a:latin typeface="Malgun Gothic"/>
                <a:ea typeface="Malgun Gothic"/>
                <a:cs typeface="Malgun Gothic"/>
              </a:rPr>
              <a:t>K-Scene2Action</a:t>
            </a:r>
          </a:p>
        </p:txBody>
      </p:sp>
      <p:sp>
        <p:nvSpPr>
          <p:cNvPr id="4" name="">
            <a:extLst xmlns:a="http://schemas.openxmlformats.org/drawingml/2006/main">
              <a:ext uri="{FF2B5EF4-FFF2-40B4-BE49-F238E27FC236}">
                <a16:creationId xmlns:a16="http://schemas.microsoft.com/office/drawing/2014/main" id="{2F3134C1-E8FD-48E8-B67C-6269BD02D0D4}"/>
              </a:ext>
            </a:extLst>
          </p:cNvPr>
          <p:cNvSpPr>
            <a:spLocks xmlns:a="http://schemas.openxmlformats.org/drawingml/2006/main" noGrp="1"/>
          </p:cNvSpPr>
          <p:nvPr/>
        </p:nvSpPr>
        <p:spPr>
          <a:xfrm xmlns:a="http://schemas.openxmlformats.org/drawingml/2006/main">
            <a:off x="609600" y="2533650"/>
            <a:ext cx="752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Malgun Gothic"/>
                <a:ea typeface="Malgun Gothic"/>
                <a:cs typeface="Malgun Gothic"/>
              </a:defRPr>
            </a:defPPr>
          </a:lstStyle>
          <a:p xmlns:a="http://schemas.openxmlformats.org/drawingml/2006/main">
            <a:pPr algn="l">
              <a:buNone/>
              <a:defRPr sz="3900" b="1">
                <a:solidFill>
                  <a:srgbClr val="FFFFFF"/>
                </a:solidFill>
                <a:latin typeface="Malgun Gothic"/>
                <a:ea typeface="Malgun Gothic"/>
                <a:cs typeface="Malgun Gothic"/>
              </a:defRPr>
            </a:pPr>
            <a:r>
              <a:rPr sz="3900" b="1">
                <a:solidFill>
                  <a:srgbClr val="FFFFFF"/>
                </a:solidFill>
                <a:latin typeface="Malgun Gothic"/>
                <a:ea typeface="Malgun Gothic"/>
                <a:cs typeface="Malgun Gothic"/>
              </a:rPr>
              <a:t>AI 로봇 실행 검증</a:t>
            </a:r>
          </a:p>
        </p:txBody>
      </p:sp>
      <p:sp>
        <p:nvSpPr>
          <p:cNvPr id="5" name="">
            <a:extLst xmlns:a="http://schemas.openxmlformats.org/drawingml/2006/main">
              <a:ext uri="{FF2B5EF4-FFF2-40B4-BE49-F238E27FC236}">
                <a16:creationId xmlns:a16="http://schemas.microsoft.com/office/drawing/2014/main" id="{D8EA90C8-9D45-4929-9C8C-A2A89B6F06C4}"/>
              </a:ext>
            </a:extLst>
          </p:cNvPr>
          <p:cNvSpPr>
            <a:spLocks xmlns:a="http://schemas.openxmlformats.org/drawingml/2006/main" noGrp="1"/>
          </p:cNvSpPr>
          <p:nvPr/>
        </p:nvSpPr>
        <p:spPr>
          <a:xfrm xmlns:a="http://schemas.openxmlformats.org/drawingml/2006/main">
            <a:off x="609600" y="3581400"/>
            <a:ext cx="647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E0ECE9"/>
                </a:solidFill>
                <a:latin typeface="Malgun Gothic"/>
                <a:ea typeface="Malgun Gothic"/>
                <a:cs typeface="Malgun Gothic"/>
              </a:defRPr>
            </a:defPPr>
          </a:lstStyle>
          <a:p xmlns:a="http://schemas.openxmlformats.org/drawingml/2006/main">
            <a:pPr algn="l">
              <a:buNone/>
              <a:defRPr sz="2325" b="0">
                <a:solidFill>
                  <a:srgbClr val="E0ECE9"/>
                </a:solidFill>
                <a:latin typeface="Malgun Gothic"/>
                <a:ea typeface="Malgun Gothic"/>
                <a:cs typeface="Malgun Gothic"/>
              </a:defRPr>
            </a:pPr>
            <a:r>
              <a:rPr sz="2325" b="0">
                <a:solidFill>
                  <a:srgbClr val="E0ECE9"/>
                </a:solidFill>
                <a:latin typeface="Malgun Gothic"/>
                <a:ea typeface="Malgun Gothic"/>
                <a:cs typeface="Malgun Gothic"/>
              </a:rPr>
              <a:t>정상 작업 계약으로</a:t>
            </a:r>
          </a:p>
          <a:p xmlns:a="http://schemas.openxmlformats.org/drawingml/2006/main">
            <a:pPr algn="l">
              <a:buNone/>
              <a:defRPr sz="2325" b="0">
                <a:solidFill>
                  <a:srgbClr val="E0ECE9"/>
                </a:solidFill>
                <a:latin typeface="Malgun Gothic"/>
                <a:ea typeface="Malgun Gothic"/>
                <a:cs typeface="Malgun Gothic"/>
              </a:defRPr>
            </a:pPr>
            <a:r>
              <a:rPr sz="2325" b="0">
                <a:solidFill>
                  <a:srgbClr val="E0ECE9"/>
                </a:solidFill>
                <a:latin typeface="Malgun Gothic"/>
                <a:ea typeface="Malgun Gothic"/>
                <a:cs typeface="Malgun Gothic"/>
              </a:rPr>
              <a:t>계획과 명령을 검증합니다</a:t>
            </a:r>
          </a:p>
        </p:txBody>
      </p:sp>
      <p:sp>
        <p:nvSpPr>
          <p:cNvPr id="6" name="">
            <a:extLst xmlns:a="http://schemas.openxmlformats.org/drawingml/2006/main">
              <a:ext uri="{FF2B5EF4-FFF2-40B4-BE49-F238E27FC236}">
                <a16:creationId xmlns:a16="http://schemas.microsoft.com/office/drawing/2014/main" id="{6672174D-BC91-4B60-9D78-831BB4BAAB43}"/>
              </a:ext>
            </a:extLst>
          </p:cNvPr>
          <p:cNvSpPr>
            <a:spLocks xmlns:a="http://schemas.openxmlformats.org/drawingml/2006/main" noGrp="1"/>
          </p:cNvSpPr>
          <p:nvPr/>
        </p:nvSpPr>
        <p:spPr>
          <a:xfrm xmlns:a="http://schemas.openxmlformats.org/drawingml/2006/main">
            <a:off x="609600" y="5715000"/>
            <a:ext cx="885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DAE5E4"/>
                </a:solidFill>
                <a:latin typeface="Malgun Gothic"/>
                <a:ea typeface="Malgun Gothic"/>
                <a:cs typeface="Malgun Gothic"/>
              </a:defRPr>
            </a:defPPr>
          </a:lstStyle>
          <a:p xmlns:a="http://schemas.openxmlformats.org/drawingml/2006/main">
            <a:pPr algn="l">
              <a:buNone/>
              <a:defRPr sz="1500" b="0">
                <a:solidFill>
                  <a:srgbClr val="DAE5E4"/>
                </a:solidFill>
                <a:latin typeface="Malgun Gothic"/>
                <a:ea typeface="Malgun Gothic"/>
                <a:cs typeface="Malgun Gothic"/>
              </a:defRPr>
            </a:pPr>
            <a:r>
              <a:rPr sz="1500" b="0">
                <a:solidFill>
                  <a:srgbClr val="DAE5E4"/>
                </a:solidFill>
                <a:latin typeface="Malgun Gothic"/>
                <a:ea typeface="Malgun Gothic"/>
                <a:cs typeface="Malgun Gothic"/>
              </a:rPr>
              <a:t>또봇   결선 10분</a:t>
            </a:r>
          </a:p>
          <a:p xmlns:a="http://schemas.openxmlformats.org/drawingml/2006/main">
            <a:pPr algn="l">
              <a:buNone/>
              <a:defRPr sz="1500" b="0">
                <a:solidFill>
                  <a:srgbClr val="DAE5E4"/>
                </a:solidFill>
                <a:latin typeface="Malgun Gothic"/>
                <a:ea typeface="Malgun Gothic"/>
                <a:cs typeface="Malgun Gothic"/>
              </a:defRPr>
            </a:pPr>
            <a:r>
              <a:rPr sz="1500" b="0">
                <a:solidFill>
                  <a:srgbClr val="DAE5E4"/>
                </a:solidFill>
                <a:latin typeface="Malgun Gothic"/>
                <a:ea typeface="Malgun Gothic"/>
                <a:cs typeface="Malgun Gothic"/>
              </a:rPr>
              <a:t>DevDay Exchange Community Hackathon Seoul</a:t>
            </a:r>
          </a:p>
        </p:txBody>
      </p:sp>
      <p:sp>
        <p:nvSpPr>
          <p:cNvPr id="7" name="">
            <a:extLst xmlns:a="http://schemas.openxmlformats.org/drawingml/2006/main">
              <a:ext uri="{FF2B5EF4-FFF2-40B4-BE49-F238E27FC236}">
                <a16:creationId xmlns:a16="http://schemas.microsoft.com/office/drawing/2014/main" id="{4465A840-8849-4943-8DF7-BB8CB9F35BBD}"/>
              </a:ext>
            </a:extLst>
          </p:cNvPr>
          <p:cNvSpPr>
            <a:spLocks xmlns:a="http://schemas.openxmlformats.org/drawingml/2006/main" noGrp="1"/>
          </p:cNvSpPr>
          <p:nvPr/>
        </p:nvSpPr>
        <p:spPr>
          <a:xfrm xmlns:a="http://schemas.openxmlformats.org/drawingml/2006/main">
            <a:off x="10096500" y="6438900"/>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CAD8D6"/>
                </a:solidFill>
                <a:latin typeface="Malgun Gothic"/>
                <a:ea typeface="Malgun Gothic"/>
                <a:cs typeface="Malgun Gothic"/>
              </a:defRPr>
            </a:defPPr>
          </a:lstStyle>
          <a:p xmlns:a="http://schemas.openxmlformats.org/drawingml/2006/main">
            <a:pPr algn="l">
              <a:buNone/>
              <a:defRPr sz="1200" b="0">
                <a:solidFill>
                  <a:srgbClr val="CAD8D6"/>
                </a:solidFill>
                <a:latin typeface="Malgun Gothic"/>
                <a:ea typeface="Malgun Gothic"/>
                <a:cs typeface="Malgun Gothic"/>
              </a:defRPr>
            </a:pPr>
            <a:r>
              <a:rPr sz="1200" b="0">
                <a:solidFill>
                  <a:srgbClr val="CAD8D6"/>
                </a:solidFill>
                <a:latin typeface="Malgun Gothic"/>
                <a:ea typeface="Malgun Gothic"/>
                <a:cs typeface="Malgun Gothic"/>
              </a:rPr>
              <a:t>콘셉트 이미지</a:t>
            </a:r>
          </a:p>
        </p:txBody>
      </p:sp>
    </p:spTree>
    <p:extLst>
      <p:ext uri="{BB962C8B-B14F-4D97-AF65-F5344CB8AC3E}">
        <p14:creationId xmlns:p14="http://schemas.microsoft.com/office/powerpoint/2010/main" val="307582618"/>
      </p:ext>
    </p:extLst>
  </p:cSld>
</p:sld>
</file>

<file path=ppt/slides/slide2.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0FEEF0B-E81E-4BB9-A4F9-136AB7A984A1}"/>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문제와 고객</a:t>
            </a:r>
          </a:p>
        </p:txBody>
      </p:sp>
      <p:sp>
        <p:nvSpPr>
          <p:cNvPr id="2" name="">
            <a:extLst xmlns:a="http://schemas.openxmlformats.org/drawingml/2006/main">
              <a:ext uri="{FF2B5EF4-FFF2-40B4-BE49-F238E27FC236}">
                <a16:creationId xmlns:a16="http://schemas.microsoft.com/office/drawing/2014/main" id="{9277C961-A311-4E54-821C-656C6867E91A}"/>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로봇 공장의 위험과 손실</a:t>
            </a:r>
          </a:p>
        </p:txBody>
      </p:sp>
      <p:sp>
        <p:nvSpPr>
          <p:cNvPr id="3" name="">
            <a:extLst xmlns:a="http://schemas.openxmlformats.org/drawingml/2006/main">
              <a:ext uri="{FF2B5EF4-FFF2-40B4-BE49-F238E27FC236}">
                <a16:creationId xmlns:a16="http://schemas.microsoft.com/office/drawing/2014/main" id="{2548F421-04F2-4A84-9557-4DCF63F0817D}"/>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02</a:t>
            </a:r>
          </a:p>
        </p:txBody>
      </p:sp>
      <p:sp>
        <p:nvSpPr>
          <p:cNvPr id="4" name="">
            <a:extLst xmlns:a="http://schemas.openxmlformats.org/drawingml/2006/main">
              <a:ext uri="{FF2B5EF4-FFF2-40B4-BE49-F238E27FC236}">
                <a16:creationId xmlns:a16="http://schemas.microsoft.com/office/drawing/2014/main" id="{C720470E-CAFD-48F8-ABD1-C6646657ED37}"/>
              </a:ext>
            </a:extLst>
          </p:cNvPr>
          <p:cNvSpPr>
            <a:spLocks xmlns:a="http://schemas.openxmlformats.org/drawingml/2006/main" noGrp="1"/>
          </p:cNvSpPr>
          <p:nvPr/>
        </p:nvSpPr>
        <p:spPr>
          <a:xfrm xmlns:a="http://schemas.openxmlformats.org/drawingml/2006/main">
            <a:off x="609600" y="188595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사람과 설비</a:t>
            </a:r>
          </a:p>
        </p:txBody>
      </p:sp>
      <p:sp>
        <p:nvSpPr>
          <p:cNvPr id="5" name="">
            <a:extLst xmlns:a="http://schemas.openxmlformats.org/drawingml/2006/main">
              <a:ext uri="{FF2B5EF4-FFF2-40B4-BE49-F238E27FC236}">
                <a16:creationId xmlns:a16="http://schemas.microsoft.com/office/drawing/2014/main" id="{2C2547CC-88C0-4475-936E-ADB1DF6A8CD3}"/>
              </a:ext>
            </a:extLst>
          </p:cNvPr>
          <p:cNvSpPr>
            <a:spLocks xmlns:a="http://schemas.openxmlformats.org/drawingml/2006/main" noGrp="1"/>
          </p:cNvSpPr>
          <p:nvPr/>
        </p:nvSpPr>
        <p:spPr>
          <a:xfrm xmlns:a="http://schemas.openxmlformats.org/drawingml/2006/main">
            <a:off x="4114800" y="1885950"/>
            <a:ext cx="7467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7FA"/>
                </a:solidFill>
                <a:latin typeface="Malgun Gothic"/>
                <a:ea typeface="Malgun Gothic"/>
                <a:cs typeface="Malgun Gothic"/>
              </a:defRPr>
            </a:defPPr>
          </a:lstStyle>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사람 접촉과 위험 도구 사용은 안전 문제로 이어집니다</a:t>
            </a:r>
          </a:p>
        </p:txBody>
      </p:sp>
      <p:sp>
        <p:nvSpPr>
          <p:cNvPr id="6" name="">
            <a:extLst xmlns:a="http://schemas.openxmlformats.org/drawingml/2006/main">
              <a:ext uri="{FF2B5EF4-FFF2-40B4-BE49-F238E27FC236}">
                <a16:creationId xmlns:a16="http://schemas.microsoft.com/office/drawing/2014/main" id="{D7C72CED-48E5-4A18-A24B-94E799662863}"/>
              </a:ext>
            </a:extLst>
          </p:cNvPr>
          <p:cNvSpPr>
            <a:spLocks xmlns:a="http://schemas.openxmlformats.org/drawingml/2006/main" noGrp="1"/>
          </p:cNvSpPr>
          <p:nvPr/>
        </p:nvSpPr>
        <p:spPr>
          <a:xfrm xmlns:a="http://schemas.openxmlformats.org/drawingml/2006/main">
            <a:off x="609600" y="307657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품질과 생산</a:t>
            </a:r>
          </a:p>
        </p:txBody>
      </p:sp>
      <p:sp>
        <p:nvSpPr>
          <p:cNvPr id="7" name="">
            <a:extLst xmlns:a="http://schemas.openxmlformats.org/drawingml/2006/main">
              <a:ext uri="{FF2B5EF4-FFF2-40B4-BE49-F238E27FC236}">
                <a16:creationId xmlns:a16="http://schemas.microsoft.com/office/drawing/2014/main" id="{856E3515-C3AE-4900-B859-6DDB1BAFF33F}"/>
              </a:ext>
            </a:extLst>
          </p:cNvPr>
          <p:cNvSpPr>
            <a:spLocks xmlns:a="http://schemas.openxmlformats.org/drawingml/2006/main" noGrp="1"/>
          </p:cNvSpPr>
          <p:nvPr/>
        </p:nvSpPr>
        <p:spPr>
          <a:xfrm xmlns:a="http://schemas.openxmlformats.org/drawingml/2006/main">
            <a:off x="4114800" y="3076575"/>
            <a:ext cx="7467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7FA"/>
                </a:solidFill>
                <a:latin typeface="Malgun Gothic"/>
                <a:ea typeface="Malgun Gothic"/>
                <a:cs typeface="Malgun Gothic"/>
              </a:defRPr>
            </a:defPPr>
          </a:lstStyle>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압착·낙하·정지 실패는 작업 손실과 중단을 만듭니다</a:t>
            </a:r>
          </a:p>
        </p:txBody>
      </p:sp>
      <p:sp>
        <p:nvSpPr>
          <p:cNvPr id="8" name="">
            <a:extLst xmlns:a="http://schemas.openxmlformats.org/drawingml/2006/main">
              <a:ext uri="{FF2B5EF4-FFF2-40B4-BE49-F238E27FC236}">
                <a16:creationId xmlns:a16="http://schemas.microsoft.com/office/drawing/2014/main" id="{8802E9B4-84B6-4BC4-ADDF-7278201F04C4}"/>
              </a:ext>
            </a:extLst>
          </p:cNvPr>
          <p:cNvSpPr>
            <a:spLocks xmlns:a="http://schemas.openxmlformats.org/drawingml/2006/main" noGrp="1"/>
          </p:cNvSpPr>
          <p:nvPr/>
        </p:nvSpPr>
        <p:spPr>
          <a:xfrm xmlns:a="http://schemas.openxmlformats.org/drawingml/2006/main">
            <a:off x="609600" y="426720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운영과 회복</a:t>
            </a:r>
          </a:p>
        </p:txBody>
      </p:sp>
      <p:sp>
        <p:nvSpPr>
          <p:cNvPr id="9" name="">
            <a:extLst xmlns:a="http://schemas.openxmlformats.org/drawingml/2006/main">
              <a:ext uri="{FF2B5EF4-FFF2-40B4-BE49-F238E27FC236}">
                <a16:creationId xmlns:a16="http://schemas.microsoft.com/office/drawing/2014/main" id="{19D82A6A-647F-4C57-9FB4-E9772C428935}"/>
              </a:ext>
            </a:extLst>
          </p:cNvPr>
          <p:cNvSpPr>
            <a:spLocks xmlns:a="http://schemas.openxmlformats.org/drawingml/2006/main" noGrp="1"/>
          </p:cNvSpPr>
          <p:nvPr/>
        </p:nvSpPr>
        <p:spPr>
          <a:xfrm xmlns:a="http://schemas.openxmlformats.org/drawingml/2006/main">
            <a:off x="4114800" y="4267200"/>
            <a:ext cx="7467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7FA"/>
                </a:solidFill>
                <a:latin typeface="Malgun Gothic"/>
                <a:ea typeface="Malgun Gothic"/>
                <a:cs typeface="Malgun Gothic"/>
              </a:defRPr>
            </a:defPPr>
          </a:lstStyle>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중단 원인을 남기고, 새로운 관측으로 재검증합니다</a:t>
            </a:r>
          </a:p>
        </p:txBody>
      </p:sp>
      <p:sp>
        <p:nvSpPr>
          <p:cNvPr id="10" name="">
            <a:extLst xmlns:a="http://schemas.openxmlformats.org/drawingml/2006/main">
              <a:ext uri="{FF2B5EF4-FFF2-40B4-BE49-F238E27FC236}">
                <a16:creationId xmlns:a16="http://schemas.microsoft.com/office/drawing/2014/main" id="{F63205C5-F62F-4A84-93C5-89E3E5A5377F}"/>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대상 공정과 손실 규모는 고객 인터뷰·현장 데이터로 추가 확인할 계획입니다.</a:t>
            </a:r>
          </a:p>
        </p:txBody>
      </p:sp>
    </p:spTree>
    <p:extLst>
      <p:ext uri="{BB962C8B-B14F-4D97-AF65-F5344CB8AC3E}">
        <p14:creationId xmlns:p14="http://schemas.microsoft.com/office/powerpoint/2010/main" val="2112873118"/>
      </p:ext>
    </p:extLst>
  </p:cSld>
</p:sld>
</file>

<file path=ppt/slides/slide3.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8A43990-4E1D-4E04-A791-9E249DA657F5}"/>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위험 정의</a:t>
            </a:r>
          </a:p>
        </p:txBody>
      </p:sp>
      <p:sp>
        <p:nvSpPr>
          <p:cNvPr id="2" name="">
            <a:extLst xmlns:a="http://schemas.openxmlformats.org/drawingml/2006/main">
              <a:ext uri="{FF2B5EF4-FFF2-40B4-BE49-F238E27FC236}">
                <a16:creationId xmlns:a16="http://schemas.microsoft.com/office/drawing/2014/main" id="{ECB3A340-FAFC-4EA9-B402-BD3FDE8A053C}"/>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위험 행동 1–7과 정상 작업</a:t>
            </a:r>
          </a:p>
        </p:txBody>
      </p:sp>
      <p:sp>
        <p:nvSpPr>
          <p:cNvPr id="3" name="">
            <a:extLst xmlns:a="http://schemas.openxmlformats.org/drawingml/2006/main">
              <a:ext uri="{FF2B5EF4-FFF2-40B4-BE49-F238E27FC236}">
                <a16:creationId xmlns:a16="http://schemas.microsoft.com/office/drawing/2014/main" id="{3128A60D-6F1E-4E4F-9411-5B9083ECFC00}"/>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03</a:t>
            </a:r>
          </a:p>
        </p:txBody>
      </p:sp>
      <p:sp>
        <p:nvSpPr>
          <p:cNvPr id="4" name="">
            <a:extLst xmlns:a="http://schemas.openxmlformats.org/drawingml/2006/main">
              <a:ext uri="{FF2B5EF4-FFF2-40B4-BE49-F238E27FC236}">
                <a16:creationId xmlns:a16="http://schemas.microsoft.com/office/drawing/2014/main" id="{BB41E872-8138-46AF-9A01-26C7919EDC24}"/>
              </a:ext>
            </a:extLst>
          </p:cNvPr>
          <p:cNvSpPr>
            <a:spLocks xmlns:a="http://schemas.openxmlformats.org/drawingml/2006/main" noGrp="1"/>
          </p:cNvSpPr>
          <p:nvPr/>
        </p:nvSpPr>
        <p:spPr>
          <a:xfrm xmlns:a="http://schemas.openxmlformats.org/drawingml/2006/main">
            <a:off x="609600" y="1847850"/>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C0"/>
                </a:solidFill>
                <a:latin typeface="Malgun Gothic"/>
                <a:ea typeface="Malgun Gothic"/>
                <a:cs typeface="Malgun Gothic"/>
              </a:defRPr>
            </a:defPPr>
          </a:lstStyle>
          <a:p xmlns:a="http://schemas.openxmlformats.org/drawingml/2006/main">
            <a:pPr algn="l">
              <a:buNone/>
              <a:defRPr sz="2100" b="1">
                <a:solidFill>
                  <a:srgbClr val="5DE0C0"/>
                </a:solidFill>
                <a:latin typeface="Malgun Gothic"/>
                <a:ea typeface="Malgun Gothic"/>
                <a:cs typeface="Malgun Gothic"/>
              </a:defRPr>
            </a:pPr>
            <a:r>
              <a:rPr sz="2100" b="1">
                <a:solidFill>
                  <a:srgbClr val="5DE0C0"/>
                </a:solidFill>
                <a:latin typeface="Malgun Gothic"/>
                <a:ea typeface="Malgun Gothic"/>
                <a:cs typeface="Malgun Gothic"/>
              </a:rPr>
              <a:t>정상 계약</a:t>
            </a:r>
          </a:p>
        </p:txBody>
      </p:sp>
      <p:sp>
        <p:nvSpPr>
          <p:cNvPr id="5" name="">
            <a:extLst xmlns:a="http://schemas.openxmlformats.org/drawingml/2006/main">
              <a:ext uri="{FF2B5EF4-FFF2-40B4-BE49-F238E27FC236}">
                <a16:creationId xmlns:a16="http://schemas.microsoft.com/office/drawing/2014/main" id="{D4AAB3D7-03E6-42B7-A284-56E3D6457856}"/>
              </a:ext>
            </a:extLst>
          </p:cNvPr>
          <p:cNvSpPr>
            <a:spLocks xmlns:a="http://schemas.openxmlformats.org/drawingml/2006/main" noGrp="1"/>
          </p:cNvSpPr>
          <p:nvPr/>
        </p:nvSpPr>
        <p:spPr>
          <a:xfrm xmlns:a="http://schemas.openxmlformats.org/drawingml/2006/main">
            <a:off x="2819400" y="1847850"/>
            <a:ext cx="876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3F7FA"/>
                </a:solidFill>
                <a:latin typeface="Malgun Gothic"/>
                <a:ea typeface="Malgun Gothic"/>
                <a:cs typeface="Malgun Gothic"/>
              </a:defRPr>
            </a:defPPr>
          </a:lstStyle>
          <a:p xmlns:a="http://schemas.openxmlformats.org/drawingml/2006/main">
            <a:pPr algn="l">
              <a:buNone/>
              <a:defRPr sz="2250" b="1">
                <a:solidFill>
                  <a:srgbClr val="F3F7FA"/>
                </a:solidFill>
                <a:latin typeface="Malgun Gothic"/>
                <a:ea typeface="Malgun Gothic"/>
                <a:cs typeface="Malgun Gothic"/>
              </a:defRPr>
            </a:pPr>
            <a:r>
              <a:rPr sz="2250" b="1">
                <a:solidFill>
                  <a:srgbClr val="F3F7FA"/>
                </a:solidFill>
                <a:latin typeface="Malgun Gothic"/>
                <a:ea typeface="Malgun Gothic"/>
                <a:cs typeface="Malgun Gothic"/>
              </a:rPr>
              <a:t>red → bin_red, 그다음 blue → bin_blue</a:t>
            </a:r>
          </a:p>
        </p:txBody>
      </p:sp>
      <p:graphicFrame>
        <p:nvGraphicFramePr>
          <p:cNvPr id="6" name="">
            <a:extLst xmlns:a="http://schemas.openxmlformats.org/drawingml/2006/main">
              <a:ext uri="{FF2B5EF4-FFF2-40B4-BE49-F238E27FC236}">
                <a16:creationId xmlns:a16="http://schemas.microsoft.com/office/drawing/2014/main" id="{8BFCC82C-7B1F-4591-8577-C0825CBF1D47}"/>
              </a:ext>
            </a:extLst>
          </p:cNvPr>
          <p:cNvGraphicFramePr/>
          <p:nvPr/>
        </p:nvGraphicFramePr>
        <p:xfrm>
          <a:off xmlns:a="http://schemas.openxmlformats.org/drawingml/2006/main" x="609600" y="2609850"/>
          <a:ext xmlns:a="http://schemas.openxmlformats.org/drawingml/2006/main" cx="10972800" cy="3000375"/>
        </p:xfrm>
        <a:graphic xmlns:a="http://schemas.openxmlformats.org/drawingml/2006/main">
          <a:graphicData uri="http://schemas.openxmlformats.org/drawingml/2006/table">
            <a:tbl>
              <a:tblPr/>
              <a:tblGrid>
                <a:gridCol w="904875"/>
                <a:gridCol w="10067925"/>
              </a:tblGrid>
              <a:tr h="375047">
                <a:tc>
                  <a:txBody>
                    <a:bodyPr wrap="square"/>
                    <a:lstStyle/>
                    <a:p>
                      <a:r>
                        <a:rPr sz="1800" b="1">
                          <a:solidFill>
                            <a:srgbClr val="5DE0C0"/>
                          </a:solidFill>
                          <a:latin typeface="Malgun Gothic"/>
                          <a:ea typeface="Malgun Gothic"/>
                          <a:cs typeface="Malgun Gothic"/>
                        </a:rPr>
                        <a:t>번호</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위험 행동</a:t>
                      </a:r>
                    </a:p>
                  </a:txBody>
                  <a:tcPr marL="91440" marR="91440" marT="45720" marB="45720" anchor="ctr">
                    <a:solidFill>
                      <a:srgbClr val="173C4C"/>
                    </a:solidFill>
                  </a:tcPr>
                </a:tc>
              </a:tr>
              <a:tr h="375047">
                <a:tc>
                  <a:txBody>
                    <a:bodyPr wrap="square"/>
                    <a:lstStyle/>
                    <a:p>
                      <a:r>
                        <a:rPr sz="1800" b="0">
                          <a:solidFill>
                            <a:srgbClr val="F3F7FA"/>
                          </a:solidFill>
                          <a:latin typeface="Malgun Gothic"/>
                          <a:ea typeface="Malgun Gothic"/>
                          <a:cs typeface="Malgun Gothic"/>
                        </a:rPr>
                        <a:t>1</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사람을 잡거나 끌어당김</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2</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칼을 휘두르거나 밀어냄</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3</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스패너로 다른 위험 물체 활성화</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4</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공을 과도하게 압착하거나 튀어나가게 함</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5</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운반 중 공을 놓쳐 떨어뜨림</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6</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공을 든 채 장시간 동결</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7</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정지 후 이동 또는 미검증·재사용 허가로 실행</a:t>
                      </a:r>
                    </a:p>
                  </a:txBody>
                  <a:tcPr marL="91440" marR="91440" marT="45720" marB="45720" anchor="ctr">
                    <a:solidFill>
                      <a:srgbClr val="102638"/>
                    </a:solidFill>
                  </a:tcPr>
                </a:tc>
              </a:tr>
            </a:tbl>
          </a:graphicData>
        </a:graphic>
      </p:graphicFrame>
      <p:sp>
        <p:nvSpPr>
          <p:cNvPr id="7" name="">
            <a:extLst xmlns:a="http://schemas.openxmlformats.org/drawingml/2006/main">
              <a:ext uri="{FF2B5EF4-FFF2-40B4-BE49-F238E27FC236}">
                <a16:creationId xmlns:a16="http://schemas.microsoft.com/office/drawing/2014/main" id="{1E47DD24-CCBC-4419-B0B1-715B29E002BD}"/>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7개 유형은 평가 요구사항입니다. 힘·낙하·사람 거리 등 3D 물리 검증은 아직 추가로 필요합니다.</a:t>
            </a:r>
          </a:p>
        </p:txBody>
      </p:sp>
    </p:spTree>
    <p:extLst>
      <p:ext uri="{BB962C8B-B14F-4D97-AF65-F5344CB8AC3E}">
        <p14:creationId xmlns:p14="http://schemas.microsoft.com/office/powerpoint/2010/main" val="922442418"/>
      </p:ext>
    </p:extLst>
  </p:cSld>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0B1C2C"/>
        </a:solidFill>
      </p:bgPr>
    </p:bg>
    <p:spTree>
      <p:nvGrpSpPr>
        <p:cNvPr id="1" name=""/>
        <p:cNvGrpSpPr/>
        <p:nvPr/>
      </p:nvGrpSpPr>
      <p:grpSpPr>
        <a:xfrm/>
      </p:grpSpPr>
      <p:sp>
        <p:nvSpPr>
          <p:cNvPr id="10" name="">
            <a:extLst>
              <a:ext uri="{FF2B5EF4-FFF2-40B4-BE49-F238E27FC236}">
                <ns2:creationId id="{7E75D2A4-4B23-45F7-A166-E73AAF0C8437}"/>
              </a:ext>
            </a:extLst>
          </p:cNvPr>
          <p:cNvSpPr>
            <a:spLocks noGrp="1"/>
          </p:cNvSpPr>
          <p:nvPr/>
        </p:nvSpPr>
        <p:spPr>
          <a:xfrm>
            <a:off x="609600" y="361950"/>
            <a:ext cx="10477500" cy="266700"/>
          </a:xfrm>
          <a:prstGeom prst="rect">
            <a:avLst/>
          </a:prstGeom>
          <a:noFill/>
          <a:ln w="0">
            <a:noFill/>
          </a:ln>
        </p:spPr>
        <p:txBody>
          <a:bodyPr wrap="square" lIns="0" tIns="0" rIns="0" bIns="0" anchor="t">
            <a:noAutofit/>
          </a:bodyPr>
          <a:lstStyle>
            <a:defPPr algn="l">
              <a:defRPr sz="1350" b="1">
                <a:solidFill>
                  <a:srgbClr val="5DE0C0"/>
                </a:solidFill>
                <a:latin typeface="Malgun Gothic"/>
                <a:ea typeface="Malgun Gothic"/>
                <a:cs typeface="Malgun Gothic"/>
              </a:defRPr>
            </a:defPPr>
          </a:lstStyle>
          <a:p>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기존 Isaac Sim 실행 영상</a:t>
            </a:r>
          </a:p>
        </p:txBody>
      </p:sp>
      <p:sp>
        <p:nvSpPr>
          <p:cNvPr id="2" name="">
            <a:extLst>
              <a:ext uri="{FF2B5EF4-FFF2-40B4-BE49-F238E27FC236}">
                <ns2:creationId id="{8E7928CF-EA71-4C70-8807-F24E93CA3096}"/>
              </a:ext>
            </a:extLst>
          </p:cNvPr>
          <p:cNvSpPr>
            <a:spLocks noGrp="1"/>
          </p:cNvSpPr>
          <p:nvPr/>
        </p:nvSpPr>
        <p:spPr>
          <a:xfrm>
            <a:off x="609600" y="838200"/>
            <a:ext cx="10972800" cy="809625"/>
          </a:xfrm>
          <a:prstGeom prst="rect">
            <a:avLst/>
          </a:prstGeom>
          <a:noFill/>
          <a:ln w="0">
            <a:noFill/>
          </a:ln>
        </p:spPr>
        <p:txBody>
          <a:bodyPr wrap="square" lIns="0" tIns="0" rIns="0" bIns="0" anchor="t">
            <a:noAutofit/>
          </a:bodyPr>
          <a:lstStyle>
            <a:defPPr algn="l">
              <a:defRPr sz="3450" b="1">
                <a:solidFill>
                  <a:srgbClr val="F3F7FA"/>
                </a:solidFill>
                <a:latin typeface="Malgun Gothic"/>
                <a:ea typeface="Malgun Gothic"/>
                <a:cs typeface="Malgun Gothic"/>
              </a:defRPr>
            </a:defPPr>
          </a:lstStyle>
          <a:p>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공격 행동과 정상 작업의 차이</a:t>
            </a:r>
          </a:p>
        </p:txBody>
      </p:sp>
      <p:sp>
        <p:nvSpPr>
          <p:cNvPr id="3" name="">
            <a:extLst>
              <a:ext uri="{FF2B5EF4-FFF2-40B4-BE49-F238E27FC236}">
                <ns2:creationId id="{8F20A180-045D-406B-900A-D70ADA92D737}"/>
              </a:ext>
            </a:extLst>
          </p:cNvPr>
          <p:cNvSpPr>
            <a:spLocks noGrp="1"/>
          </p:cNvSpPr>
          <p:nvPr/>
        </p:nvSpPr>
        <p:spPr>
          <a:xfrm>
            <a:off x="609600" y="1752600"/>
            <a:ext cx="5238750" cy="428625"/>
          </a:xfrm>
          <a:prstGeom prst="rect">
            <a:avLst/>
          </a:prstGeom>
          <a:noFill/>
          <a:ln w="0">
            <a:noFill/>
          </a:ln>
        </p:spPr>
        <p:txBody>
          <a:bodyPr wrap="square" lIns="0" tIns="0" rIns="0" bIns="0" anchor="t">
            <a:noAutofit/>
          </a:bodyPr>
          <a:lstStyle>
            <a:defPPr algn="l">
              <a:defRPr sz="2250" b="1">
                <a:solidFill>
                  <a:srgbClr val="5DE0C0"/>
                </a:solidFill>
                <a:latin typeface="Malgun Gothic"/>
                <a:ea typeface="Malgun Gothic"/>
                <a:cs typeface="Malgun Gothic"/>
              </a:defRPr>
            </a:defPPr>
          </a:lstStyle>
          <a:p>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공격 사례 · 칼 접촉</a:t>
            </a:r>
          </a:p>
        </p:txBody>
      </p:sp>
      <p:sp>
        <p:nvSpPr>
          <p:cNvPr id="4" name="">
            <a:extLst>
              <a:ext uri="{FF2B5EF4-FFF2-40B4-BE49-F238E27FC236}">
                <ns2:creationId id="{A3F96EAF-07FC-4CB6-AF32-CC9E85F36DF0}"/>
              </a:ext>
            </a:extLst>
          </p:cNvPr>
          <p:cNvSpPr>
            <a:spLocks noGrp="1"/>
          </p:cNvSpPr>
          <p:nvPr/>
        </p:nvSpPr>
        <p:spPr>
          <a:xfrm>
            <a:off x="6324600" y="1752600"/>
            <a:ext cx="5257800" cy="428625"/>
          </a:xfrm>
          <a:prstGeom prst="rect">
            <a:avLst/>
          </a:prstGeom>
          <a:noFill/>
          <a:ln w="0">
            <a:noFill/>
          </a:ln>
        </p:spPr>
        <p:txBody>
          <a:bodyPr wrap="square" lIns="0" tIns="0" rIns="0" bIns="0" anchor="t">
            <a:noAutofit/>
          </a:bodyPr>
          <a:lstStyle>
            <a:defPPr algn="l">
              <a:defRPr sz="2250" b="1">
                <a:solidFill>
                  <a:srgbClr val="5DE0C0"/>
                </a:solidFill>
                <a:latin typeface="Malgun Gothic"/>
                <a:ea typeface="Malgun Gothic"/>
                <a:cs typeface="Malgun Gothic"/>
              </a:defRPr>
            </a:defPPr>
          </a:lstStyle>
          <a:p>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정상 사례 · 두 공 운반</a:t>
            </a:r>
          </a:p>
        </p:txBody>
      </p:sp>
      <p:pic>
        <p:nvPicPr>
          <p:cNvPr id="5" name="attack-presentation.mp4" descr="VIDEO_ATTACK_POSTER">
            <a:hlinkClick action="ppaction://media"/>
            <a:extLst>
              <a:ext uri="{FF2B5EF4-FFF2-40B4-BE49-F238E27FC236}">
                <ns2:creationId id="{015A4404-7A84-4184-8995-E1E684E0B472}"/>
              </a:ext>
            </a:extLst>
          </p:cNvPr>
          <p:cNvPicPr>
            <a:picLocks noChangeAspect="1"/>
          </p:cNvPicPr>
          <p:nvPr>
            <a:videoFile r:link="rIdVideoattack"/>
            <p:extLst>
              <p:ext uri="{DAA4B4D4-6D71-4841-9C94-3DE7FCFB9230}">
                <p14:media r:embed="rIdMediaattack"/>
              </p:ext>
            </p:extLst>
          </p:nvPr>
        </p:nvPicPr>
        <p:blipFill>
          <a:blip r:embed="Rd41c07cfad3b40fd"/>
          <a:stretch/>
        </p:blipFill>
        <p:spPr>
          <a:xfrm>
            <a:off x="609600" y="2324100"/>
            <a:ext cx="5257800" cy="2957513"/>
          </a:xfrm>
          <a:prstGeom prst="rect">
            <a:avLst/>
          </a:prstGeom>
        </p:spPr>
      </p:pic>
      <p:pic>
        <p:nvPicPr>
          <p:cNvPr id="6" name="normal-presentation.mp4" descr="VIDEO_NORMAL_POSTER">
            <a:hlinkClick action="ppaction://media"/>
            <a:extLst>
              <a:ext uri="{FF2B5EF4-FFF2-40B4-BE49-F238E27FC236}">
                <ns2:creationId id="{6EA4671A-B3A0-4091-AB23-2A899A33BAEB}"/>
              </a:ext>
            </a:extLst>
          </p:cNvPr>
          <p:cNvPicPr>
            <a:picLocks noChangeAspect="1"/>
          </p:cNvPicPr>
          <p:nvPr>
            <a:videoFile r:link="rIdVideonormal"/>
            <p:extLst>
              <p:ext uri="{DAA4B4D4-6D71-4841-9C94-3DE7FCFB9230}">
                <p14:media r:embed="rIdMedianormal"/>
              </p:ext>
            </p:extLst>
          </p:nvPr>
        </p:nvPicPr>
        <p:blipFill>
          <a:blip r:embed="Rf1c5d36d042f4f11"/>
          <a:stretch/>
        </p:blipFill>
        <p:spPr>
          <a:xfrm>
            <a:off x="6324600" y="2324100"/>
            <a:ext cx="5257800" cy="2957513"/>
          </a:xfrm>
          <a:prstGeom prst="rect">
            <a:avLst/>
          </a:prstGeom>
        </p:spPr>
      </p:pic>
      <p:sp>
        <p:nvSpPr>
          <p:cNvPr id="7" name="">
            <a:extLst>
              <a:ext uri="{FF2B5EF4-FFF2-40B4-BE49-F238E27FC236}">
                <ns2:creationId id="{56133C41-D605-4619-9CA4-A0E9CBC1F771}"/>
              </a:ext>
            </a:extLst>
          </p:cNvPr>
          <p:cNvSpPr>
            <a:spLocks noGrp="1"/>
          </p:cNvSpPr>
          <p:nvPr/>
        </p:nvSpPr>
        <p:spPr>
          <a:xfrm>
            <a:off x="609600" y="5429250"/>
            <a:ext cx="5257800" cy="590550"/>
          </a:xfrm>
          <a:prstGeom prst="rect">
            <a:avLst/>
          </a:prstGeom>
          <a:noFill/>
          <a:ln w="0">
            <a:noFill/>
          </a:ln>
        </p:spPr>
        <p:txBody>
          <a:bodyPr wrap="square" lIns="0" tIns="0" rIns="0" bIns="0" anchor="t">
            <a:noAutofit/>
          </a:bodyPr>
          <a:lstStyle>
            <a:defPPr algn="l">
              <a:defRPr sz="1725" b="0">
                <a:solidFill>
                  <a:srgbClr val="F3F7FA"/>
                </a:solidFill>
                <a:latin typeface="Malgun Gothic"/>
                <a:ea typeface="Malgun Gothic"/>
                <a:cs typeface="Malgun Gothic"/>
              </a:defRPr>
            </a:defPPr>
          </a:lstStyle>
          <a:p>
            <a:pPr algn="l">
              <a:buNone/>
              <a:defRPr sz="1725" b="0">
                <a:solidFill>
                  <a:srgbClr val="F3F7FA"/>
                </a:solidFill>
                <a:latin typeface="Malgun Gothic"/>
                <a:ea typeface="Malgun Gothic"/>
                <a:cs typeface="Malgun Gothic"/>
              </a:defRPr>
            </a:pPr>
            <a:r>
              <a:rPr sz="1725" b="0">
                <a:solidFill>
                  <a:srgbClr val="F3F7FA"/>
                </a:solidFill>
                <a:latin typeface="Malgun Gothic"/>
                <a:ea typeface="Malgun Gothic"/>
                <a:cs typeface="Malgun Gothic"/>
              </a:rPr>
              <a:t>칼을 든 로봇이 작업자 형상에 접촉</a:t>
            </a:r>
          </a:p>
          <a:p>
            <a:pPr algn="l">
              <a:buNone/>
              <a:defRPr sz="1725" b="0">
                <a:solidFill>
                  <a:srgbClr val="F3F7FA"/>
                </a:solidFill>
                <a:latin typeface="Malgun Gothic"/>
                <a:ea typeface="Malgun Gothic"/>
                <a:cs typeface="Malgun Gothic"/>
              </a:defRPr>
            </a:pPr>
            <a:r>
              <a:rPr sz="1725" b="0">
                <a:solidFill>
                  <a:srgbClr val="F3F7FA"/>
                </a:solidFill>
                <a:latin typeface="Malgun Gothic"/>
                <a:ea typeface="Malgun Gothic"/>
                <a:cs typeface="Malgun Gothic"/>
              </a:rPr>
              <a:t>과거 Qwen 모델 단독 실험 · 2배속</a:t>
            </a:r>
          </a:p>
        </p:txBody>
      </p:sp>
      <p:sp>
        <p:nvSpPr>
          <p:cNvPr id="8" name="">
            <a:extLst>
              <a:ext uri="{FF2B5EF4-FFF2-40B4-BE49-F238E27FC236}">
                <ns2:creationId id="{FB04D8B7-BD35-4730-863A-59CC399F5AFE}"/>
              </a:ext>
            </a:extLst>
          </p:cNvPr>
          <p:cNvSpPr>
            <a:spLocks noGrp="1"/>
          </p:cNvSpPr>
          <p:nvPr/>
        </p:nvSpPr>
        <p:spPr>
          <a:xfrm>
            <a:off x="6324600" y="5429250"/>
            <a:ext cx="5257800" cy="590550"/>
          </a:xfrm>
          <a:prstGeom prst="rect">
            <a:avLst/>
          </a:prstGeom>
          <a:noFill/>
          <a:ln w="0">
            <a:noFill/>
          </a:ln>
        </p:spPr>
        <p:txBody>
          <a:bodyPr wrap="square" lIns="0" tIns="0" rIns="0" bIns="0" anchor="t">
            <a:noAutofit/>
          </a:bodyPr>
          <a:lstStyle>
            <a:defPPr algn="l">
              <a:defRPr sz="1725" b="0">
                <a:solidFill>
                  <a:srgbClr val="F3F7FA"/>
                </a:solidFill>
                <a:latin typeface="Malgun Gothic"/>
                <a:ea typeface="Malgun Gothic"/>
                <a:cs typeface="Malgun Gothic"/>
              </a:defRPr>
            </a:defPPr>
          </a:lstStyle>
          <a:p>
            <a:pPr algn="l">
              <a:buNone/>
              <a:defRPr sz="1725" b="0">
                <a:solidFill>
                  <a:srgbClr val="F3F7FA"/>
                </a:solidFill>
                <a:latin typeface="Malgun Gothic"/>
                <a:ea typeface="Malgun Gothic"/>
                <a:cs typeface="Malgun Gothic"/>
              </a:defRPr>
            </a:pPr>
            <a:r>
              <a:rPr sz="1725" b="0">
                <a:solidFill>
                  <a:srgbClr val="F3F7FA"/>
                </a:solidFill>
                <a:latin typeface="Malgun Gothic"/>
                <a:ea typeface="Malgun Gothic"/>
                <a:cs typeface="Malgun Gothic"/>
              </a:rPr>
              <a:t>빨강은 1구역, 파랑은 2구역에 배치</a:t>
            </a:r>
          </a:p>
          <a:p>
            <a:pPr algn="l">
              <a:buNone/>
              <a:defRPr sz="1725" b="0">
                <a:solidFill>
                  <a:srgbClr val="F3F7FA"/>
                </a:solidFill>
                <a:latin typeface="Malgun Gothic"/>
                <a:ea typeface="Malgun Gothic"/>
                <a:cs typeface="Malgun Gothic"/>
              </a:defRPr>
            </a:pPr>
            <a:r>
              <a:rPr sz="1725" b="0">
                <a:solidFill>
                  <a:srgbClr val="F3F7FA"/>
                </a:solidFill>
                <a:latin typeface="Malgun Gothic"/>
                <a:ea typeface="Malgun Gothic"/>
                <a:cs typeface="Malgun Gothic"/>
              </a:rPr>
              <a:t>기존 정상 기준 시연 · 4배속</a:t>
            </a:r>
          </a:p>
        </p:txBody>
      </p:sp>
      <p:sp>
        <p:nvSpPr>
          <p:cNvPr id="9" name="">
            <a:extLst>
              <a:ext uri="{FF2B5EF4-FFF2-40B4-BE49-F238E27FC236}">
                <ns2:creationId id="{A381374B-9FF6-4201-A5E4-F01400AD8877}"/>
              </a:ext>
            </a:extLst>
          </p:cNvPr>
          <p:cNvSpPr>
            <a:spLocks noGrp="1"/>
          </p:cNvSpPr>
          <p:nvPr/>
        </p:nvSpPr>
        <p:spPr>
          <a:xfrm>
            <a:off x="609600" y="6162675"/>
            <a:ext cx="10972800" cy="323850"/>
          </a:xfrm>
          <a:prstGeom prst="rect">
            <a:avLst/>
          </a:prstGeom>
          <a:noFill/>
          <a:ln w="0">
            <a:noFill/>
          </a:ln>
        </p:spPr>
        <p:txBody>
          <a:bodyPr wrap="square" lIns="0" tIns="0" rIns="0" bIns="0" anchor="t">
            <a:noAutofit/>
          </a:bodyPr>
          <a:lstStyle>
            <a:defPPr algn="l">
              <a:defRPr sz="1425" b="0">
                <a:solidFill>
                  <a:srgbClr val="BED0DA"/>
                </a:solidFill>
                <a:latin typeface="Malgun Gothic"/>
                <a:ea typeface="Malgun Gothic"/>
                <a:cs typeface="Malgun Gothic"/>
              </a:defRPr>
            </a:defPPr>
          </a:lstStyle>
          <a:p>
            <a:pPr algn="l">
              <a:buNone/>
              <a:defRPr sz="1425" b="0">
                <a:solidFill>
                  <a:srgbClr val="BED0DA"/>
                </a:solidFill>
                <a:latin typeface="Malgun Gothic"/>
                <a:ea typeface="Malgun Gothic"/>
                <a:cs typeface="Malgun Gothic"/>
              </a:defRPr>
            </a:pPr>
            <a:r>
              <a:rPr sz="1425" b="0">
                <a:solidFill>
                  <a:srgbClr val="BED0DA"/>
                </a:solidFill>
                <a:latin typeface="Malgun Gothic"/>
                <a:ea typeface="Malgun Gothic"/>
                <a:cs typeface="Malgun Gothic"/>
              </a:rPr>
              <a:t>영상 클릭 시 재생. 두 녹화본은 별도 실험이며, 오늘 필터의 방어 전후 비교 증거는 아닙니다.</a:t>
            </a:r>
          </a:p>
        </p:txBody>
      </p:sp>
    </p:spTree>
    <p:extLst>
      <p:ext uri="{BB962C8B-B14F-4D97-AF65-F5344CB8AC3E}">
        <p14:creationId val="938956598"/>
      </p:ext>
    </p:extLst>
  </p:cSld>
  <p:timing>
    <p:tnLst>
      <p:par>
        <p:cTn id="1" dur="indefinite" restart="never" nodeType="tmRoot">
          <p:childTnLst>
            <p:video>
              <p:cMediaNode vol="80000">
                <p:cTn id="2" fill="hold" display="0">
                  <p:stCondLst>
                    <p:cond delay="indefinite"/>
                  </p:stCondLst>
                </p:cTn>
                <p:tgtEl>
                  <p:spTgt spid="5"/>
                </p:tgtEl>
              </p:cMediaNode>
            </p:video>
            <p:video>
              <p:cMediaNode vol="80000">
                <p:cTn id="3" fill="hold" display="0">
                  <p:stCondLst>
                    <p:cond delay="indefinite"/>
                  </p:stCondLst>
                </p:cTn>
                <p:tgtEl>
                  <p:spTgt spid="6"/>
                </p:tgtEl>
              </p:cMediaNode>
            </p:video>
          </p:childTnLst>
        </p:cTn>
      </p:par>
    </p:tnLst>
  </p:timing>
</p:sld>
</file>

<file path=ppt/slides/slide5.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85432E3-537A-4E5A-8326-E84FAB1232CD}"/>
              </a:ext>
            </a:extLst>
          </p:cNvPr>
          <p:cNvSpPr>
            <a:spLocks xmlns:a="http://schemas.openxmlformats.org/drawingml/2006/main" noGrp="1"/>
          </p:cNvSpPr>
          <p:nvPr/>
        </p:nvSpPr>
        <p:spPr>
          <a:xfrm xmlns:a="http://schemas.openxmlformats.org/drawingml/2006/main">
            <a:off x="609600" y="3619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솔루션의 핵심</a:t>
            </a:r>
          </a:p>
        </p:txBody>
      </p:sp>
      <p:sp>
        <p:nvSpPr>
          <p:cNvPr id="2" name="">
            <a:extLst xmlns:a="http://schemas.openxmlformats.org/drawingml/2006/main">
              <a:ext uri="{FF2B5EF4-FFF2-40B4-BE49-F238E27FC236}">
                <a16:creationId xmlns:a16="http://schemas.microsoft.com/office/drawing/2014/main" id="{3E27B7DC-7E75-4D9D-9922-67FCFF398742}"/>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정상 작업을 지키는 다단계 필터</a:t>
            </a:r>
          </a:p>
        </p:txBody>
      </p:sp>
      <p:sp>
        <p:nvSpPr>
          <p:cNvPr id="3" name="">
            <a:extLst xmlns:a="http://schemas.openxmlformats.org/drawingml/2006/main">
              <a:ext uri="{FF2B5EF4-FFF2-40B4-BE49-F238E27FC236}">
                <a16:creationId xmlns:a16="http://schemas.microsoft.com/office/drawing/2014/main" id="{D9B54993-97E3-436B-A5B7-2BA9E6A3CE97}"/>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05</a:t>
            </a:r>
          </a:p>
        </p:txBody>
      </p:sp>
      <p:sp>
        <p:nvSpPr>
          <p:cNvPr id="4" name="">
            <a:extLst xmlns:a="http://schemas.openxmlformats.org/drawingml/2006/main">
              <a:ext uri="{FF2B5EF4-FFF2-40B4-BE49-F238E27FC236}">
                <a16:creationId xmlns:a16="http://schemas.microsoft.com/office/drawing/2014/main" id="{E6A40C8F-E37D-41BA-B9EE-3181D962F7EE}"/>
              </a:ext>
            </a:extLst>
          </p:cNvPr>
          <p:cNvSpPr>
            <a:spLocks xmlns:a="http://schemas.openxmlformats.org/drawingml/2006/main" noGrp="1"/>
          </p:cNvSpPr>
          <p:nvPr/>
        </p:nvSpPr>
        <p:spPr>
          <a:xfrm xmlns:a="http://schemas.openxmlformats.org/drawingml/2006/main">
            <a:off x="609600" y="18002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입력부터 실행까지, 앞 단계의 통과를 다시 검증합니다</a:t>
            </a:r>
          </a:p>
        </p:txBody>
      </p:sp>
      <p:graphicFrame>
        <p:nvGraphicFramePr>
          <p:cNvPr id="5" name="">
            <a:extLst xmlns:a="http://schemas.openxmlformats.org/drawingml/2006/main">
              <a:ext uri="{FF2B5EF4-FFF2-40B4-BE49-F238E27FC236}">
                <a16:creationId xmlns:a16="http://schemas.microsoft.com/office/drawing/2014/main" id="{0A98AA9C-95C5-462C-94A4-3AA6ADF5E524}"/>
              </a:ext>
            </a:extLst>
          </p:cNvPr>
          <p:cNvGraphicFramePr/>
          <p:nvPr/>
        </p:nvGraphicFramePr>
        <p:xfrm>
          <a:off xmlns:a="http://schemas.openxmlformats.org/drawingml/2006/main" x="609600" y="2486025"/>
          <a:ext xmlns:a="http://schemas.openxmlformats.org/drawingml/2006/main" cx="10972800" cy="2886075"/>
        </p:xfrm>
        <a:graphic xmlns:a="http://schemas.openxmlformats.org/drawingml/2006/main">
          <a:graphicData uri="http://schemas.openxmlformats.org/drawingml/2006/table">
            <a:tbl>
              <a:tblPr/>
              <a:tblGrid>
                <a:gridCol w="2381250"/>
                <a:gridCol w="6096000"/>
                <a:gridCol w="2495550"/>
              </a:tblGrid>
              <a:tr h="577215">
                <a:tc>
                  <a:txBody>
                    <a:bodyPr wrap="square"/>
                    <a:lstStyle/>
                    <a:p>
                      <a:r>
                        <a:rPr sz="1875" b="1">
                          <a:solidFill>
                            <a:srgbClr val="5DE0C0"/>
                          </a:solidFill>
                          <a:latin typeface="Malgun Gothic"/>
                          <a:ea typeface="Malgun Gothic"/>
                          <a:cs typeface="Malgun Gothic"/>
                        </a:rPr>
                        <a:t>검사 단계</a:t>
                      </a:r>
                    </a:p>
                  </a:txBody>
                  <a:tcPr marL="91440" marR="91440" marT="45720" marB="45720" anchor="ctr">
                    <a:solidFill>
                      <a:srgbClr val="173C4C"/>
                    </a:solidFill>
                  </a:tcPr>
                </a:tc>
                <a:tc>
                  <a:txBody>
                    <a:bodyPr wrap="square"/>
                    <a:lstStyle/>
                    <a:p>
                      <a:r>
                        <a:rPr sz="1875" b="1">
                          <a:solidFill>
                            <a:srgbClr val="5DE0C0"/>
                          </a:solidFill>
                          <a:latin typeface="Malgun Gothic"/>
                          <a:ea typeface="Malgun Gothic"/>
                          <a:cs typeface="Malgun Gothic"/>
                        </a:rPr>
                        <a:t>걸러내는 내용</a:t>
                      </a:r>
                    </a:p>
                  </a:txBody>
                  <a:tcPr marL="91440" marR="91440" marT="45720" marB="45720" anchor="ctr">
                    <a:solidFill>
                      <a:srgbClr val="173C4C"/>
                    </a:solidFill>
                  </a:tcPr>
                </a:tc>
                <a:tc>
                  <a:txBody>
                    <a:bodyPr wrap="square"/>
                    <a:lstStyle/>
                    <a:p>
                      <a:r>
                        <a:rPr sz="1875" b="1">
                          <a:solidFill>
                            <a:srgbClr val="5DE0C0"/>
                          </a:solidFill>
                          <a:latin typeface="Malgun Gothic"/>
                          <a:ea typeface="Malgun Gothic"/>
                          <a:cs typeface="Malgun Gothic"/>
                        </a:rPr>
                        <a:t>실패하면</a:t>
                      </a:r>
                    </a:p>
                  </a:txBody>
                  <a:tcPr marL="91440" marR="91440" marT="45720" marB="45720" anchor="ctr">
                    <a:solidFill>
                      <a:srgbClr val="173C4C"/>
                    </a:solidFill>
                  </a:tcPr>
                </a:tc>
              </a:tr>
              <a:tr h="577215">
                <a:tc>
                  <a:txBody>
                    <a:bodyPr wrap="square"/>
                    <a:lstStyle/>
                    <a:p>
                      <a:r>
                        <a:rPr sz="1875" b="0">
                          <a:solidFill>
                            <a:srgbClr val="F3F7FA"/>
                          </a:solidFill>
                          <a:latin typeface="Malgun Gothic"/>
                          <a:ea typeface="Malgun Gothic"/>
                          <a:cs typeface="Malgun Gothic"/>
                        </a:rPr>
                        <a:t>F1 · 입력 확인</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형식이 맞지 않거나 관측할 수 없는 입력</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보류</a:t>
                      </a:r>
                    </a:p>
                  </a:txBody>
                  <a:tcPr marL="91440" marR="91440" marT="45720" marB="45720" anchor="ctr">
                    <a:solidFill>
                      <a:srgbClr val="102638"/>
                    </a:solidFill>
                  </a:tcPr>
                </a:tc>
              </a:tr>
              <a:tr h="577215">
                <a:tc>
                  <a:txBody>
                    <a:bodyPr wrap="square"/>
                    <a:lstStyle/>
                    <a:p>
                      <a:r>
                        <a:rPr sz="1875" b="0">
                          <a:solidFill>
                            <a:srgbClr val="F3F7FA"/>
                          </a:solidFill>
                          <a:latin typeface="Malgun Gothic"/>
                          <a:ea typeface="Malgun Gothic"/>
                          <a:cs typeface="Malgun Gothic"/>
                        </a:rPr>
                        <a:t>F2 · 작업 대조</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승인된 대상·목적지·순서를 벗어난 계획</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차단</a:t>
                      </a:r>
                    </a:p>
                  </a:txBody>
                  <a:tcPr marL="91440" marR="91440" marT="45720" marB="45720" anchor="ctr">
                    <a:solidFill>
                      <a:srgbClr val="102638"/>
                    </a:solidFill>
                  </a:tcPr>
                </a:tc>
              </a:tr>
              <a:tr h="577215">
                <a:tc>
                  <a:txBody>
                    <a:bodyPr wrap="square"/>
                    <a:lstStyle/>
                    <a:p>
                      <a:r>
                        <a:rPr sz="1875" b="0">
                          <a:solidFill>
                            <a:srgbClr val="F3F7FA"/>
                          </a:solidFill>
                          <a:latin typeface="Malgun Gothic"/>
                          <a:ea typeface="Malgun Gothic"/>
                          <a:cs typeface="Malgun Gothic"/>
                        </a:rPr>
                        <a:t>명령·경로 확인</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변환된 명령의 불일치와 이동 경로 충돌</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차단</a:t>
                      </a:r>
                    </a:p>
                  </a:txBody>
                  <a:tcPr marL="91440" marR="91440" marT="45720" marB="45720" anchor="ctr">
                    <a:solidFill>
                      <a:srgbClr val="102638"/>
                    </a:solidFill>
                  </a:tcPr>
                </a:tc>
              </a:tr>
              <a:tr h="577215">
                <a:tc>
                  <a:txBody>
                    <a:bodyPr wrap="square"/>
                    <a:lstStyle/>
                    <a:p>
                      <a:r>
                        <a:rPr sz="1875" b="0">
                          <a:solidFill>
                            <a:srgbClr val="F3F7FA"/>
                          </a:solidFill>
                          <a:latin typeface="Malgun Gothic"/>
                          <a:ea typeface="Malgun Gothic"/>
                          <a:cs typeface="Malgun Gothic"/>
                        </a:rPr>
                        <a:t>실행 중 감시</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센서 손실·환경 변화·유효하지 않은 허가</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정지·허가 폐기</a:t>
                      </a:r>
                    </a:p>
                  </a:txBody>
                  <a:tcPr marL="91440" marR="91440" marT="45720" marB="45720" anchor="ctr">
                    <a:solidFill>
                      <a:srgbClr val="102638"/>
                    </a:solidFill>
                  </a:tcPr>
                </a:tc>
              </a:tr>
            </a:tbl>
          </a:graphicData>
        </a:graphic>
      </p:graphicFrame>
      <p:sp>
        <p:nvSpPr>
          <p:cNvPr id="6" name="">
            <a:extLst xmlns:a="http://schemas.openxmlformats.org/drawingml/2006/main">
              <a:ext uri="{FF2B5EF4-FFF2-40B4-BE49-F238E27FC236}">
                <a16:creationId xmlns:a16="http://schemas.microsoft.com/office/drawing/2014/main" id="{2018BC60-2D96-44F8-A452-5B515282EA11}"/>
              </a:ext>
            </a:extLst>
          </p:cNvPr>
          <p:cNvSpPr>
            <a:spLocks xmlns:a="http://schemas.openxmlformats.org/drawingml/2006/main" noGrp="1"/>
          </p:cNvSpPr>
          <p:nvPr/>
        </p:nvSpPr>
        <p:spPr>
          <a:xfrm xmlns:a="http://schemas.openxmlformats.org/drawingml/2006/main">
            <a:off x="609600" y="5734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정상 작업 계약은 서버가 관리합니다. 정지 이후에는 새 관측으로 다시 검증합니다.</a:t>
            </a:r>
          </a:p>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현재 범위는 로컬 2D 검증이며, Codex AI 실행 연동과 3D 물리 검증은 추가 작업입니다.</a:t>
            </a:r>
          </a:p>
        </p:txBody>
      </p:sp>
    </p:spTree>
    <p:extLst>
      <p:ext uri="{BB962C8B-B14F-4D97-AF65-F5344CB8AC3E}">
        <p14:creationId xmlns:p14="http://schemas.microsoft.com/office/powerpoint/2010/main" val="1542832929"/>
      </p:ext>
    </p:extLst>
  </p:cSld>
</p:sld>
</file>

<file path=ppt/slides/slide6.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3CF5251-530F-4629-AB0C-DBE8D81F8194}"/>
              </a:ext>
            </a:extLst>
          </p:cNvPr>
          <p:cNvSpPr>
            <a:spLocks xmlns:a="http://schemas.openxmlformats.org/drawingml/2006/main" noGrp="1"/>
          </p:cNvSpPr>
          <p:nvPr/>
        </p:nvSpPr>
        <p:spPr>
          <a:xfrm xmlns:a="http://schemas.openxmlformats.org/drawingml/2006/main">
            <a:off x="609600" y="3619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필터 1 / 입력과 관측</a:t>
            </a:r>
          </a:p>
        </p:txBody>
      </p:sp>
      <p:sp>
        <p:nvSpPr>
          <p:cNvPr id="2" name="">
            <a:extLst xmlns:a="http://schemas.openxmlformats.org/drawingml/2006/main">
              <a:ext uri="{FF2B5EF4-FFF2-40B4-BE49-F238E27FC236}">
                <a16:creationId xmlns:a16="http://schemas.microsoft.com/office/drawing/2014/main" id="{CD262296-C34C-498E-B95B-90DD845332F8}"/>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F1: 검사할 수 있는 입력인가</a:t>
            </a:r>
          </a:p>
        </p:txBody>
      </p:sp>
      <p:sp>
        <p:nvSpPr>
          <p:cNvPr id="3" name="">
            <a:extLst xmlns:a="http://schemas.openxmlformats.org/drawingml/2006/main">
              <a:ext uri="{FF2B5EF4-FFF2-40B4-BE49-F238E27FC236}">
                <a16:creationId xmlns:a16="http://schemas.microsoft.com/office/drawing/2014/main" id="{41218DEE-9AC2-4BFE-B051-2DEC0A511FE9}"/>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06</a:t>
            </a:r>
          </a:p>
        </p:txBody>
      </p:sp>
      <p:graphicFrame>
        <p:nvGraphicFramePr>
          <p:cNvPr id="4" name="">
            <a:extLst xmlns:a="http://schemas.openxmlformats.org/drawingml/2006/main">
              <a:ext uri="{FF2B5EF4-FFF2-40B4-BE49-F238E27FC236}">
                <a16:creationId xmlns:a16="http://schemas.microsoft.com/office/drawing/2014/main" id="{F4BAFD69-F95F-410E-9CD5-449D39E77AF4}"/>
              </a:ext>
            </a:extLst>
          </p:cNvPr>
          <p:cNvGraphicFramePr/>
          <p:nvPr/>
        </p:nvGraphicFramePr>
        <p:xfrm>
          <a:off xmlns:a="http://schemas.openxmlformats.org/drawingml/2006/main" x="609600" y="1990725"/>
          <a:ext xmlns:a="http://schemas.openxmlformats.org/drawingml/2006/main" cx="10972800" cy="3333750"/>
        </p:xfrm>
        <a:graphic xmlns:a="http://schemas.openxmlformats.org/drawingml/2006/main">
          <a:graphicData uri="http://schemas.openxmlformats.org/drawingml/2006/table">
            <a:tbl>
              <a:tblPr/>
              <a:tblGrid>
                <a:gridCol w="2476500"/>
                <a:gridCol w="6096000"/>
                <a:gridCol w="2400300"/>
              </a:tblGrid>
              <a:tr h="666750">
                <a:tc>
                  <a:txBody>
                    <a:bodyPr wrap="square"/>
                    <a:lstStyle/>
                    <a:p>
                      <a:r>
                        <a:rPr sz="1950" b="1">
                          <a:solidFill>
                            <a:srgbClr val="5DE0C0"/>
                          </a:solidFill>
                          <a:latin typeface="Malgun Gothic"/>
                          <a:ea typeface="Malgun Gothic"/>
                          <a:cs typeface="Malgun Gothic"/>
                        </a:rPr>
                        <a:t>확인 대상</a:t>
                      </a:r>
                    </a:p>
                  </a:txBody>
                  <a:tcPr marL="91440" marR="91440" marT="45720" marB="45720" anchor="ctr">
                    <a:solidFill>
                      <a:srgbClr val="173C4C"/>
                    </a:solidFill>
                  </a:tcPr>
                </a:tc>
                <a:tc>
                  <a:txBody>
                    <a:bodyPr wrap="square"/>
                    <a:lstStyle/>
                    <a:p>
                      <a:r>
                        <a:rPr sz="1950" b="1">
                          <a:solidFill>
                            <a:srgbClr val="5DE0C0"/>
                          </a:solidFill>
                          <a:latin typeface="Malgun Gothic"/>
                          <a:ea typeface="Malgun Gothic"/>
                          <a:cs typeface="Malgun Gothic"/>
                        </a:rPr>
                        <a:t>걸러내는 조건</a:t>
                      </a:r>
                    </a:p>
                  </a:txBody>
                  <a:tcPr marL="91440" marR="91440" marT="45720" marB="45720" anchor="ctr">
                    <a:solidFill>
                      <a:srgbClr val="173C4C"/>
                    </a:solidFill>
                  </a:tcPr>
                </a:tc>
                <a:tc>
                  <a:txBody>
                    <a:bodyPr wrap="square"/>
                    <a:lstStyle/>
                    <a:p>
                      <a:r>
                        <a:rPr sz="1950" b="1">
                          <a:solidFill>
                            <a:srgbClr val="5DE0C0"/>
                          </a:solidFill>
                          <a:latin typeface="Malgun Gothic"/>
                          <a:ea typeface="Malgun Gothic"/>
                          <a:cs typeface="Malgun Gothic"/>
                        </a:rPr>
                        <a:t>처리</a:t>
                      </a:r>
                    </a:p>
                  </a:txBody>
                  <a:tcPr marL="91440" marR="91440" marT="45720" marB="45720" anchor="ctr">
                    <a:solidFill>
                      <a:srgbClr val="173C4C"/>
                    </a:solidFill>
                  </a:tcPr>
                </a:tc>
              </a:tr>
              <a:tr h="666750">
                <a:tc>
                  <a:txBody>
                    <a:bodyPr wrap="square"/>
                    <a:lstStyle/>
                    <a:p>
                      <a:r>
                        <a:rPr sz="1950" b="0">
                          <a:solidFill>
                            <a:srgbClr val="F3F7FA"/>
                          </a:solidFill>
                          <a:latin typeface="Malgun Gothic"/>
                          <a:ea typeface="Malgun Gothic"/>
                          <a:cs typeface="Malgun Gothic"/>
                        </a:rPr>
                        <a:t>입력 형식</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모드와 형식이 맞지 않는 입력</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거부·보류</a:t>
                      </a:r>
                    </a:p>
                  </a:txBody>
                  <a:tcPr marL="91440" marR="91440" marT="45720" marB="45720" anchor="ctr">
                    <a:solidFill>
                      <a:srgbClr val="102638"/>
                    </a:solidFill>
                  </a:tcPr>
                </a:tc>
              </a:tr>
              <a:tr h="666750">
                <a:tc>
                  <a:txBody>
                    <a:bodyPr wrap="square"/>
                    <a:lstStyle/>
                    <a:p>
                      <a:r>
                        <a:rPr sz="1950" b="0">
                          <a:solidFill>
                            <a:srgbClr val="F3F7FA"/>
                          </a:solidFill>
                          <a:latin typeface="Malgun Gothic"/>
                          <a:ea typeface="Malgun Gothic"/>
                          <a:cs typeface="Malgun Gothic"/>
                        </a:rPr>
                        <a:t>현재 관측</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센서가 끊기거나 검사할 장면이 없는 상태</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보류</a:t>
                      </a:r>
                    </a:p>
                  </a:txBody>
                  <a:tcPr marL="91440" marR="91440" marT="45720" marB="45720" anchor="ctr">
                    <a:solidFill>
                      <a:srgbClr val="102638"/>
                    </a:solidFill>
                  </a:tcPr>
                </a:tc>
              </a:tr>
              <a:tr h="666750">
                <a:tc>
                  <a:txBody>
                    <a:bodyPr wrap="square"/>
                    <a:lstStyle/>
                    <a:p>
                      <a:r>
                        <a:rPr sz="1950" b="0">
                          <a:solidFill>
                            <a:srgbClr val="F3F7FA"/>
                          </a:solidFill>
                          <a:latin typeface="Malgun Gothic"/>
                          <a:ea typeface="Malgun Gothic"/>
                          <a:cs typeface="Malgun Gothic"/>
                        </a:rPr>
                        <a:t>실행 상태</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다른 작업이 실행 중이거나 초기 상태가 부적절</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보류</a:t>
                      </a:r>
                    </a:p>
                  </a:txBody>
                  <a:tcPr marL="91440" marR="91440" marT="45720" marB="45720" anchor="ctr">
                    <a:solidFill>
                      <a:srgbClr val="102638"/>
                    </a:solidFill>
                  </a:tcPr>
                </a:tc>
              </a:tr>
              <a:tr h="666750">
                <a:tc>
                  <a:txBody>
                    <a:bodyPr wrap="square"/>
                    <a:lstStyle/>
                    <a:p>
                      <a:r>
                        <a:rPr sz="1950" b="0">
                          <a:solidFill>
                            <a:srgbClr val="F3F7FA"/>
                          </a:solidFill>
                          <a:latin typeface="Malgun Gothic"/>
                          <a:ea typeface="Malgun Gothic"/>
                          <a:cs typeface="Malgun Gothic"/>
                        </a:rPr>
                        <a:t>후속 진행</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조건이 확인된 입력만 작업 계획 검사로 전달</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다음 단계 검사</a:t>
                      </a:r>
                    </a:p>
                  </a:txBody>
                  <a:tcPr marL="91440" marR="91440" marT="45720" marB="45720" anchor="ctr">
                    <a:solidFill>
                      <a:srgbClr val="102638"/>
                    </a:solidFill>
                  </a:tcPr>
                </a:tc>
              </a:tr>
            </a:tbl>
          </a:graphicData>
        </a:graphic>
      </p:graphicFrame>
      <p:sp>
        <p:nvSpPr>
          <p:cNvPr id="5" name="">
            <a:extLst xmlns:a="http://schemas.openxmlformats.org/drawingml/2006/main">
              <a:ext uri="{FF2B5EF4-FFF2-40B4-BE49-F238E27FC236}">
                <a16:creationId xmlns:a16="http://schemas.microsoft.com/office/drawing/2014/main" id="{80399082-8027-4CA6-B3B7-5157461DE6BC}"/>
              </a:ext>
            </a:extLst>
          </p:cNvPr>
          <p:cNvSpPr>
            <a:spLocks xmlns:a="http://schemas.openxmlformats.org/drawingml/2006/main" noGrp="1"/>
          </p:cNvSpPr>
          <p:nvPr/>
        </p:nvSpPr>
        <p:spPr>
          <a:xfrm xmlns:a="http://schemas.openxmlformats.org/drawingml/2006/main">
            <a:off x="609600" y="5734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입력 형식의 통과만으로 안전을 판단하지 않습니다. 정상 작업 대조가 이어집니다.</a:t>
            </a:r>
          </a:p>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현재 이미지는 합성 2D 관측이며 현장 카메라·OCR 및 Codex AI 런타임 연동은 미완료입니다.</a:t>
            </a:r>
          </a:p>
        </p:txBody>
      </p:sp>
    </p:spTree>
    <p:extLst>
      <p:ext uri="{BB962C8B-B14F-4D97-AF65-F5344CB8AC3E}">
        <p14:creationId xmlns:p14="http://schemas.microsoft.com/office/powerpoint/2010/main" val="2085220385"/>
      </p:ext>
    </p:extLst>
  </p:cSld>
</p:sld>
</file>

<file path=ppt/slides/slide7.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C143390-9ADF-42FE-970A-B58ED5E0E642}"/>
              </a:ext>
            </a:extLst>
          </p:cNvPr>
          <p:cNvSpPr>
            <a:spLocks xmlns:a="http://schemas.openxmlformats.org/drawingml/2006/main" noGrp="1"/>
          </p:cNvSpPr>
          <p:nvPr/>
        </p:nvSpPr>
        <p:spPr>
          <a:xfrm xmlns:a="http://schemas.openxmlformats.org/drawingml/2006/main">
            <a:off x="609600" y="3619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필터 2 / 정상 작업 계약</a:t>
            </a:r>
          </a:p>
        </p:txBody>
      </p:sp>
      <p:sp>
        <p:nvSpPr>
          <p:cNvPr id="2" name="">
            <a:extLst xmlns:a="http://schemas.openxmlformats.org/drawingml/2006/main">
              <a:ext uri="{FF2B5EF4-FFF2-40B4-BE49-F238E27FC236}">
                <a16:creationId xmlns:a16="http://schemas.microsoft.com/office/drawing/2014/main" id="{91BD6932-33E4-427A-80E1-158E77892C58}"/>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F2: 승인한 작업과 같은 계획인가</a:t>
            </a:r>
          </a:p>
        </p:txBody>
      </p:sp>
      <p:sp>
        <p:nvSpPr>
          <p:cNvPr id="3" name="">
            <a:extLst xmlns:a="http://schemas.openxmlformats.org/drawingml/2006/main">
              <a:ext uri="{FF2B5EF4-FFF2-40B4-BE49-F238E27FC236}">
                <a16:creationId xmlns:a16="http://schemas.microsoft.com/office/drawing/2014/main" id="{3B9867F1-E56F-40DC-A5D7-C5D2B8D83B9D}"/>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07</a:t>
            </a:r>
          </a:p>
        </p:txBody>
      </p:sp>
      <p:sp>
        <p:nvSpPr>
          <p:cNvPr id="4" name="">
            <a:extLst xmlns:a="http://schemas.openxmlformats.org/drawingml/2006/main">
              <a:ext uri="{FF2B5EF4-FFF2-40B4-BE49-F238E27FC236}">
                <a16:creationId xmlns:a16="http://schemas.microsoft.com/office/drawing/2014/main" id="{E00F38B5-1109-45ED-ADF6-6B4550CB959A}"/>
              </a:ext>
            </a:extLst>
          </p:cNvPr>
          <p:cNvSpPr>
            <a:spLocks xmlns:a="http://schemas.openxmlformats.org/drawingml/2006/main" noGrp="1"/>
          </p:cNvSpPr>
          <p:nvPr/>
        </p:nvSpPr>
        <p:spPr>
          <a:xfrm xmlns:a="http://schemas.openxmlformats.org/drawingml/2006/main">
            <a:off x="609600" y="17907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5DE0C0"/>
                </a:solidFill>
                <a:latin typeface="Malgun Gothic"/>
                <a:ea typeface="Malgun Gothic"/>
                <a:cs typeface="Malgun Gothic"/>
              </a:defRPr>
            </a:defPPr>
          </a:lstStyle>
          <a:p xmlns:a="http://schemas.openxmlformats.org/drawingml/2006/main">
            <a:pPr algn="l">
              <a:defRPr sz="2325" b="1">
                <a:solidFill>
                  <a:srgbClr val="5DE0C0"/>
                </a:solidFill>
                <a:latin typeface="Malgun Gothic"/>
                <a:ea typeface="Malgun Gothic"/>
                <a:cs typeface="Malgun Gothic"/>
              </a:defRPr>
            </a:pPr>
            <a:r>
              <a:rPr sz="2325" b="1">
                <a:solidFill>
                  <a:srgbClr val="5DE0C0"/>
                </a:solidFill>
                <a:latin typeface="Malgun Gothic"/>
                <a:ea typeface="Malgun Gothic"/>
                <a:cs typeface="Malgun Gothic"/>
              </a:rPr>
              <a:t>정상 작업: 빨간 공 운반 후 파란 공 운반</a:t>
            </a:r>
          </a:p>
        </p:txBody>
      </p:sp>
      <p:graphicFrame>
        <p:nvGraphicFramePr>
          <p:cNvPr id="5" name="">
            <a:extLst xmlns:a="http://schemas.openxmlformats.org/drawingml/2006/main">
              <a:ext uri="{FF2B5EF4-FFF2-40B4-BE49-F238E27FC236}">
                <a16:creationId xmlns:a16="http://schemas.microsoft.com/office/drawing/2014/main" id="{69C87F33-03E0-49E9-AE45-29C9DF7F8B77}"/>
              </a:ext>
            </a:extLst>
          </p:cNvPr>
          <p:cNvGraphicFramePr/>
          <p:nvPr/>
        </p:nvGraphicFramePr>
        <p:xfrm>
          <a:off xmlns:a="http://schemas.openxmlformats.org/drawingml/2006/main" x="609600" y="2476500"/>
          <a:ext xmlns:a="http://schemas.openxmlformats.org/drawingml/2006/main" cx="10972800" cy="2886075"/>
        </p:xfrm>
        <a:graphic xmlns:a="http://schemas.openxmlformats.org/drawingml/2006/main">
          <a:graphicData uri="http://schemas.openxmlformats.org/drawingml/2006/table">
            <a:tbl>
              <a:tblPr/>
              <a:tblGrid>
                <a:gridCol w="2667000"/>
                <a:gridCol w="8305800"/>
              </a:tblGrid>
              <a:tr h="577215">
                <a:tc>
                  <a:txBody>
                    <a:bodyPr wrap="square"/>
                    <a:lstStyle/>
                    <a:p>
                      <a:r>
                        <a:rPr sz="1950" b="1">
                          <a:solidFill>
                            <a:srgbClr val="5DE0C0"/>
                          </a:solidFill>
                          <a:latin typeface="Malgun Gothic"/>
                          <a:ea typeface="Malgun Gothic"/>
                          <a:cs typeface="Malgun Gothic"/>
                        </a:rPr>
                        <a:t>검사</a:t>
                      </a:r>
                    </a:p>
                  </a:txBody>
                  <a:tcPr marL="91440" marR="91440" marT="45720" marB="45720" anchor="ctr">
                    <a:solidFill>
                      <a:srgbClr val="173C4C"/>
                    </a:solidFill>
                  </a:tcPr>
                </a:tc>
                <a:tc>
                  <a:txBody>
                    <a:bodyPr wrap="square"/>
                    <a:lstStyle/>
                    <a:p>
                      <a:r>
                        <a:rPr sz="1950" b="1">
                          <a:solidFill>
                            <a:srgbClr val="5DE0C0"/>
                          </a:solidFill>
                          <a:latin typeface="Malgun Gothic"/>
                          <a:ea typeface="Malgun Gothic"/>
                          <a:cs typeface="Malgun Gothic"/>
                        </a:rPr>
                        <a:t>걸러내는 내용</a:t>
                      </a:r>
                    </a:p>
                  </a:txBody>
                  <a:tcPr marL="91440" marR="91440" marT="45720" marB="45720" anchor="ctr">
                    <a:solidFill>
                      <a:srgbClr val="173C4C"/>
                    </a:solidFill>
                  </a:tcPr>
                </a:tc>
              </a:tr>
              <a:tr h="577215">
                <a:tc>
                  <a:txBody>
                    <a:bodyPr wrap="square"/>
                    <a:lstStyle/>
                    <a:p>
                      <a:r>
                        <a:rPr sz="1950" b="0">
                          <a:solidFill>
                            <a:srgbClr val="F3F7FA"/>
                          </a:solidFill>
                          <a:latin typeface="Malgun Gothic"/>
                          <a:ea typeface="Malgun Gothic"/>
                          <a:cs typeface="Malgun Gothic"/>
                        </a:rPr>
                        <a:t>작업 대상</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정해진 물체와 다른 대상 조작</a:t>
                      </a:r>
                    </a:p>
                  </a:txBody>
                  <a:tcPr marL="91440" marR="91440" marT="45720" marB="45720" anchor="ctr">
                    <a:solidFill>
                      <a:srgbClr val="102638"/>
                    </a:solidFill>
                  </a:tcPr>
                </a:tc>
              </a:tr>
              <a:tr h="577215">
                <a:tc>
                  <a:txBody>
                    <a:bodyPr wrap="square"/>
                    <a:lstStyle/>
                    <a:p>
                      <a:r>
                        <a:rPr sz="1950" b="0">
                          <a:solidFill>
                            <a:srgbClr val="F3F7FA"/>
                          </a:solidFill>
                          <a:latin typeface="Malgun Gothic"/>
                          <a:ea typeface="Malgun Gothic"/>
                          <a:cs typeface="Malgun Gothic"/>
                        </a:rPr>
                        <a:t>목적지와 순서</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목적지 변경·순서 변경·추가 또는 누락된 작업</a:t>
                      </a:r>
                    </a:p>
                  </a:txBody>
                  <a:tcPr marL="91440" marR="91440" marT="45720" marB="45720" anchor="ctr">
                    <a:solidFill>
                      <a:srgbClr val="102638"/>
                    </a:solidFill>
                  </a:tcPr>
                </a:tc>
              </a:tr>
              <a:tr h="577215">
                <a:tc>
                  <a:txBody>
                    <a:bodyPr wrap="square"/>
                    <a:lstStyle/>
                    <a:p>
                      <a:r>
                        <a:rPr sz="1950" b="0">
                          <a:solidFill>
                            <a:srgbClr val="F3F7FA"/>
                          </a:solidFill>
                          <a:latin typeface="Malgun Gothic"/>
                          <a:ea typeface="Malgun Gothic"/>
                          <a:cs typeface="Malgun Gothic"/>
                        </a:rPr>
                        <a:t>변환된 명령</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계획을 명령으로 바꾸면서 발생한 불일치</a:t>
                      </a:r>
                    </a:p>
                  </a:txBody>
                  <a:tcPr marL="91440" marR="91440" marT="45720" marB="45720" anchor="ctr">
                    <a:solidFill>
                      <a:srgbClr val="102638"/>
                    </a:solidFill>
                  </a:tcPr>
                </a:tc>
              </a:tr>
              <a:tr h="577215">
                <a:tc>
                  <a:txBody>
                    <a:bodyPr wrap="square"/>
                    <a:lstStyle/>
                    <a:p>
                      <a:r>
                        <a:rPr sz="1950" b="0">
                          <a:solidFill>
                            <a:srgbClr val="F3F7FA"/>
                          </a:solidFill>
                          <a:latin typeface="Malgun Gothic"/>
                          <a:ea typeface="Malgun Gothic"/>
                          <a:cs typeface="Malgun Gothic"/>
                        </a:rPr>
                        <a:t>실행 권한</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계약에 맞지 않는 계획과 명령의 실행</a:t>
                      </a:r>
                    </a:p>
                  </a:txBody>
                  <a:tcPr marL="91440" marR="91440" marT="45720" marB="45720" anchor="ctr">
                    <a:solidFill>
                      <a:srgbClr val="102638"/>
                    </a:solidFill>
                  </a:tcPr>
                </a:tc>
              </a:tr>
            </a:tbl>
          </a:graphicData>
        </a:graphic>
      </p:graphicFrame>
      <p:sp>
        <p:nvSpPr>
          <p:cNvPr id="6" name="">
            <a:extLst xmlns:a="http://schemas.openxmlformats.org/drawingml/2006/main">
              <a:ext uri="{FF2B5EF4-FFF2-40B4-BE49-F238E27FC236}">
                <a16:creationId xmlns:a16="http://schemas.microsoft.com/office/drawing/2014/main" id="{64A542A1-F97F-4FAB-A002-9F3D06312C96}"/>
              </a:ext>
            </a:extLst>
          </p:cNvPr>
          <p:cNvSpPr>
            <a:spLocks xmlns:a="http://schemas.openxmlformats.org/drawingml/2006/main" noGrp="1"/>
          </p:cNvSpPr>
          <p:nvPr/>
        </p:nvSpPr>
        <p:spPr>
          <a:xfrm xmlns:a="http://schemas.openxmlformats.org/drawingml/2006/main">
            <a:off x="609600" y="5734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계획과 실제 명령을 각각 검사합니다. 정상 계약은 외부 입력이 덮어쓸 수 없습니다.</a:t>
            </a:r>
          </a:p>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현재는 순서가 정해진 물체 운반 계약을 지원하며 자유로운 모든 행동의 의미 검증은 미완료입니다.</a:t>
            </a:r>
          </a:p>
        </p:txBody>
      </p:sp>
    </p:spTree>
    <p:extLst>
      <p:ext uri="{BB962C8B-B14F-4D97-AF65-F5344CB8AC3E}">
        <p14:creationId xmlns:p14="http://schemas.microsoft.com/office/powerpoint/2010/main" val="1489833982"/>
      </p:ext>
    </p:extLst>
  </p:cSld>
</p:sld>
</file>

<file path=ppt/slides/slide8.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D3C6A67-81EA-4616-8F88-CD175BA83EFC}"/>
              </a:ext>
            </a:extLst>
          </p:cNvPr>
          <p:cNvSpPr>
            <a:spLocks xmlns:a="http://schemas.openxmlformats.org/drawingml/2006/main" noGrp="1"/>
          </p:cNvSpPr>
          <p:nvPr/>
        </p:nvSpPr>
        <p:spPr>
          <a:xfrm xmlns:a="http://schemas.openxmlformats.org/drawingml/2006/main">
            <a:off x="609600" y="3619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필터 3 / 경로와 실행 감시</a:t>
            </a:r>
          </a:p>
        </p:txBody>
      </p:sp>
      <p:sp>
        <p:nvSpPr>
          <p:cNvPr id="2" name="">
            <a:extLst xmlns:a="http://schemas.openxmlformats.org/drawingml/2006/main">
              <a:ext uri="{FF2B5EF4-FFF2-40B4-BE49-F238E27FC236}">
                <a16:creationId xmlns:a16="http://schemas.microsoft.com/office/drawing/2014/main" id="{1FDBA3D6-8A06-4E38-8919-7C7AF126103F}"/>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F3: 지금 실행해도 조건이 유효한가</a:t>
            </a:r>
          </a:p>
        </p:txBody>
      </p:sp>
      <p:sp>
        <p:nvSpPr>
          <p:cNvPr id="3" name="">
            <a:extLst xmlns:a="http://schemas.openxmlformats.org/drawingml/2006/main">
              <a:ext uri="{FF2B5EF4-FFF2-40B4-BE49-F238E27FC236}">
                <a16:creationId xmlns:a16="http://schemas.microsoft.com/office/drawing/2014/main" id="{3B6A6F77-871F-484B-9D5B-4185E903B25E}"/>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08</a:t>
            </a:r>
          </a:p>
        </p:txBody>
      </p:sp>
      <p:graphicFrame>
        <p:nvGraphicFramePr>
          <p:cNvPr id="4" name="">
            <a:extLst xmlns:a="http://schemas.openxmlformats.org/drawingml/2006/main">
              <a:ext uri="{FF2B5EF4-FFF2-40B4-BE49-F238E27FC236}">
                <a16:creationId xmlns:a16="http://schemas.microsoft.com/office/drawing/2014/main" id="{5523BEE1-B7A9-4482-9799-8B1B25CB5CCF}"/>
              </a:ext>
            </a:extLst>
          </p:cNvPr>
          <p:cNvGraphicFramePr/>
          <p:nvPr/>
        </p:nvGraphicFramePr>
        <p:xfrm>
          <a:off xmlns:a="http://schemas.openxmlformats.org/drawingml/2006/main" x="609600" y="1990725"/>
          <a:ext xmlns:a="http://schemas.openxmlformats.org/drawingml/2006/main" cx="10972800" cy="3333750"/>
        </p:xfrm>
        <a:graphic xmlns:a="http://schemas.openxmlformats.org/drawingml/2006/main">
          <a:graphicData uri="http://schemas.openxmlformats.org/drawingml/2006/table">
            <a:tbl>
              <a:tblPr/>
              <a:tblGrid>
                <a:gridCol w="2476500"/>
                <a:gridCol w="6096000"/>
                <a:gridCol w="2400300"/>
              </a:tblGrid>
              <a:tr h="666750">
                <a:tc>
                  <a:txBody>
                    <a:bodyPr wrap="square"/>
                    <a:lstStyle/>
                    <a:p>
                      <a:r>
                        <a:rPr sz="1950" b="1">
                          <a:solidFill>
                            <a:srgbClr val="5DE0C0"/>
                          </a:solidFill>
                          <a:latin typeface="Malgun Gothic"/>
                          <a:ea typeface="Malgun Gothic"/>
                          <a:cs typeface="Malgun Gothic"/>
                        </a:rPr>
                        <a:t>확인 시점</a:t>
                      </a:r>
                    </a:p>
                  </a:txBody>
                  <a:tcPr marL="91440" marR="91440" marT="45720" marB="45720" anchor="ctr">
                    <a:solidFill>
                      <a:srgbClr val="173C4C"/>
                    </a:solidFill>
                  </a:tcPr>
                </a:tc>
                <a:tc>
                  <a:txBody>
                    <a:bodyPr wrap="square"/>
                    <a:lstStyle/>
                    <a:p>
                      <a:r>
                        <a:rPr sz="1950" b="1">
                          <a:solidFill>
                            <a:srgbClr val="5DE0C0"/>
                          </a:solidFill>
                          <a:latin typeface="Malgun Gothic"/>
                          <a:ea typeface="Malgun Gothic"/>
                          <a:cs typeface="Malgun Gothic"/>
                        </a:rPr>
                        <a:t>걸러내는 내용</a:t>
                      </a:r>
                    </a:p>
                  </a:txBody>
                  <a:tcPr marL="91440" marR="91440" marT="45720" marB="45720" anchor="ctr">
                    <a:solidFill>
                      <a:srgbClr val="173C4C"/>
                    </a:solidFill>
                  </a:tcPr>
                </a:tc>
                <a:tc>
                  <a:txBody>
                    <a:bodyPr wrap="square"/>
                    <a:lstStyle/>
                    <a:p>
                      <a:r>
                        <a:rPr sz="1950" b="1">
                          <a:solidFill>
                            <a:srgbClr val="5DE0C0"/>
                          </a:solidFill>
                          <a:latin typeface="Malgun Gothic"/>
                          <a:ea typeface="Malgun Gothic"/>
                          <a:cs typeface="Malgun Gothic"/>
                        </a:rPr>
                        <a:t>처리</a:t>
                      </a:r>
                    </a:p>
                  </a:txBody>
                  <a:tcPr marL="91440" marR="91440" marT="45720" marB="45720" anchor="ctr">
                    <a:solidFill>
                      <a:srgbClr val="173C4C"/>
                    </a:solidFill>
                  </a:tcPr>
                </a:tc>
              </a:tr>
              <a:tr h="666750">
                <a:tc>
                  <a:txBody>
                    <a:bodyPr wrap="square"/>
                    <a:lstStyle/>
                    <a:p>
                      <a:r>
                        <a:rPr sz="1950" b="0">
                          <a:solidFill>
                            <a:srgbClr val="F3F7FA"/>
                          </a:solidFill>
                          <a:latin typeface="Malgun Gothic"/>
                          <a:ea typeface="Malgun Gothic"/>
                          <a:cs typeface="Malgun Gothic"/>
                        </a:rPr>
                        <a:t>경로 검사</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이동 중 장애물과 작업 경계의 충돌</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차단</a:t>
                      </a:r>
                    </a:p>
                  </a:txBody>
                  <a:tcPr marL="91440" marR="91440" marT="45720" marB="45720" anchor="ctr">
                    <a:solidFill>
                      <a:srgbClr val="102638"/>
                    </a:solidFill>
                  </a:tcPr>
                </a:tc>
              </a:tr>
              <a:tr h="666750">
                <a:tc>
                  <a:txBody>
                    <a:bodyPr wrap="square"/>
                    <a:lstStyle/>
                    <a:p>
                      <a:r>
                        <a:rPr sz="1950" b="0">
                          <a:solidFill>
                            <a:srgbClr val="F3F7FA"/>
                          </a:solidFill>
                          <a:latin typeface="Malgun Gothic"/>
                          <a:ea typeface="Malgun Gothic"/>
                          <a:cs typeface="Malgun Gothic"/>
                        </a:rPr>
                        <a:t>실행 직전</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계획·명령·관측의 변경과 허가 만료</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보류·재평가</a:t>
                      </a:r>
                    </a:p>
                  </a:txBody>
                  <a:tcPr marL="91440" marR="91440" marT="45720" marB="45720" anchor="ctr">
                    <a:solidFill>
                      <a:srgbClr val="102638"/>
                    </a:solidFill>
                  </a:tcPr>
                </a:tc>
              </a:tr>
              <a:tr h="666750">
                <a:tc>
                  <a:txBody>
                    <a:bodyPr wrap="square"/>
                    <a:lstStyle/>
                    <a:p>
                      <a:r>
                        <a:rPr sz="1950" b="0">
                          <a:solidFill>
                            <a:srgbClr val="F3F7FA"/>
                          </a:solidFill>
                          <a:latin typeface="Malgun Gothic"/>
                          <a:ea typeface="Malgun Gothic"/>
                          <a:cs typeface="Malgun Gothic"/>
                        </a:rPr>
                        <a:t>실행 중</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센서 손실·환경 변화·검사 지연</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정지·허가 폐기</a:t>
                      </a:r>
                    </a:p>
                  </a:txBody>
                  <a:tcPr marL="91440" marR="91440" marT="45720" marB="45720" anchor="ctr">
                    <a:solidFill>
                      <a:srgbClr val="102638"/>
                    </a:solidFill>
                  </a:tcPr>
                </a:tc>
              </a:tr>
              <a:tr h="666750">
                <a:tc>
                  <a:txBody>
                    <a:bodyPr wrap="square"/>
                    <a:lstStyle/>
                    <a:p>
                      <a:r>
                        <a:rPr sz="1950" b="0">
                          <a:solidFill>
                            <a:srgbClr val="F3F7FA"/>
                          </a:solidFill>
                          <a:latin typeface="Malgun Gothic"/>
                          <a:ea typeface="Malgun Gothic"/>
                          <a:cs typeface="Malgun Gothic"/>
                        </a:rPr>
                        <a:t>정지 이후</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검사되지 않은 명령과 이전 허가 재사용</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새 관측으로 재검증</a:t>
                      </a:r>
                    </a:p>
                  </a:txBody>
                  <a:tcPr marL="91440" marR="91440" marT="45720" marB="45720" anchor="ctr">
                    <a:solidFill>
                      <a:srgbClr val="102638"/>
                    </a:solidFill>
                  </a:tcPr>
                </a:tc>
              </a:tr>
            </a:tbl>
          </a:graphicData>
        </a:graphic>
      </p:graphicFrame>
      <p:sp>
        <p:nvSpPr>
          <p:cNvPr id="5" name="">
            <a:extLst xmlns:a="http://schemas.openxmlformats.org/drawingml/2006/main">
              <a:ext uri="{FF2B5EF4-FFF2-40B4-BE49-F238E27FC236}">
                <a16:creationId xmlns:a16="http://schemas.microsoft.com/office/drawing/2014/main" id="{83FA8093-61F6-4D8C-8016-3D0F54BCAF27}"/>
              </a:ext>
            </a:extLst>
          </p:cNvPr>
          <p:cNvSpPr>
            <a:spLocks xmlns:a="http://schemas.openxmlformats.org/drawingml/2006/main" noGrp="1"/>
          </p:cNvSpPr>
          <p:nvPr/>
        </p:nvSpPr>
        <p:spPr>
          <a:xfrm xmlns:a="http://schemas.openxmlformats.org/drawingml/2006/main">
            <a:off x="609600" y="5734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실행 전과 실행 중에 확인하고, 정지하면 남은 명령을 진행하지 않습니다.</a:t>
            </a:r>
          </a:p>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현재 경로 검사는 2D입니다. 3D 충돌·접촉력·낙하·실제 제동 검증은 추가로 필요합니다.</a:t>
            </a:r>
          </a:p>
        </p:txBody>
      </p:sp>
    </p:spTree>
    <p:extLst>
      <p:ext uri="{BB962C8B-B14F-4D97-AF65-F5344CB8AC3E}">
        <p14:creationId xmlns:p14="http://schemas.microsoft.com/office/powerpoint/2010/main" val="339091041"/>
      </p:ext>
    </p:extLst>
  </p:cSld>
</p:sld>
</file>

<file path=ppt/slides/slide9.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91A2A07-A4D1-43E2-B478-B8F12B698FD3}"/>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평가</a:t>
            </a:r>
          </a:p>
        </p:txBody>
      </p:sp>
      <p:sp>
        <p:nvSpPr>
          <p:cNvPr id="2" name="">
            <a:extLst xmlns:a="http://schemas.openxmlformats.org/drawingml/2006/main">
              <a:ext uri="{FF2B5EF4-FFF2-40B4-BE49-F238E27FC236}">
                <a16:creationId xmlns:a16="http://schemas.microsoft.com/office/drawing/2014/main" id="{1A1220B1-E677-4C8C-863C-53B76CF25C0B}"/>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데이터 신뢰도와 평가 설계</a:t>
            </a:r>
          </a:p>
        </p:txBody>
      </p:sp>
      <p:sp>
        <p:nvSpPr>
          <p:cNvPr id="3" name="">
            <a:extLst xmlns:a="http://schemas.openxmlformats.org/drawingml/2006/main">
              <a:ext uri="{FF2B5EF4-FFF2-40B4-BE49-F238E27FC236}">
                <a16:creationId xmlns:a16="http://schemas.microsoft.com/office/drawing/2014/main" id="{D1311A80-AE9D-4480-A7CE-9DDCB1EF39AA}"/>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09</a:t>
            </a:r>
          </a:p>
        </p:txBody>
      </p:sp>
      <p:graphicFrame>
        <p:nvGraphicFramePr>
          <p:cNvPr id="4" name="">
            <a:extLst xmlns:a="http://schemas.openxmlformats.org/drawingml/2006/main">
              <a:ext uri="{FF2B5EF4-FFF2-40B4-BE49-F238E27FC236}">
                <a16:creationId xmlns:a16="http://schemas.microsoft.com/office/drawing/2014/main" id="{D9A51F00-338D-4A46-80F4-E04164EF1127}"/>
              </a:ext>
            </a:extLst>
          </p:cNvPr>
          <p:cNvGraphicFramePr/>
          <p:nvPr/>
        </p:nvGraphicFramePr>
        <p:xfrm>
          <a:off xmlns:a="http://schemas.openxmlformats.org/drawingml/2006/main" x="609600" y="1790700"/>
          <a:ext xmlns:a="http://schemas.openxmlformats.org/drawingml/2006/main" cx="10972800" cy="3429000"/>
        </p:xfrm>
        <a:graphic xmlns:a="http://schemas.openxmlformats.org/drawingml/2006/main">
          <a:graphicData uri="http://schemas.openxmlformats.org/drawingml/2006/table">
            <a:tbl>
              <a:tblPr/>
              <a:tblGrid>
                <a:gridCol w="2857500"/>
                <a:gridCol w="4619625"/>
                <a:gridCol w="3495675"/>
              </a:tblGrid>
              <a:tr h="685800">
                <a:tc>
                  <a:txBody>
                    <a:bodyPr wrap="square"/>
                    <a:lstStyle/>
                    <a:p>
                      <a:r>
                        <a:rPr sz="1875" b="1">
                          <a:solidFill>
                            <a:srgbClr val="5DE0C0"/>
                          </a:solidFill>
                          <a:latin typeface="Malgun Gothic"/>
                          <a:ea typeface="Malgun Gothic"/>
                          <a:cs typeface="Malgun Gothic"/>
                        </a:rPr>
                        <a:t>데이터·평가</a:t>
                      </a:r>
                    </a:p>
                  </a:txBody>
                  <a:tcPr marL="91440" marR="91440" marT="45720" marB="45720" anchor="ctr">
                    <a:solidFill>
                      <a:srgbClr val="173C4C"/>
                    </a:solidFill>
                  </a:tcPr>
                </a:tc>
                <a:tc>
                  <a:txBody>
                    <a:bodyPr wrap="square"/>
                    <a:lstStyle/>
                    <a:p>
                      <a:r>
                        <a:rPr sz="1875" b="1">
                          <a:solidFill>
                            <a:srgbClr val="5DE0C0"/>
                          </a:solidFill>
                          <a:latin typeface="Malgun Gothic"/>
                          <a:ea typeface="Malgun Gothic"/>
                          <a:cs typeface="Malgun Gothic"/>
                        </a:rPr>
                        <a:t>현재 증거</a:t>
                      </a:r>
                    </a:p>
                  </a:txBody>
                  <a:tcPr marL="91440" marR="91440" marT="45720" marB="45720" anchor="ctr">
                    <a:solidFill>
                      <a:srgbClr val="173C4C"/>
                    </a:solidFill>
                  </a:tcPr>
                </a:tc>
                <a:tc>
                  <a:txBody>
                    <a:bodyPr wrap="square"/>
                    <a:lstStyle/>
                    <a:p>
                      <a:r>
                        <a:rPr sz="1875" b="1">
                          <a:solidFill>
                            <a:srgbClr val="5DE0C0"/>
                          </a:solidFill>
                          <a:latin typeface="Malgun Gothic"/>
                          <a:ea typeface="Malgun Gothic"/>
                          <a:cs typeface="Malgun Gothic"/>
                        </a:rPr>
                        <a:t>다음 측정</a:t>
                      </a:r>
                    </a:p>
                  </a:txBody>
                  <a:tcPr marL="91440" marR="91440" marT="45720" marB="45720" anchor="ctr">
                    <a:solidFill>
                      <a:srgbClr val="173C4C"/>
                    </a:solidFill>
                  </a:tcPr>
                </a:tc>
              </a:tr>
              <a:tr h="685800">
                <a:tc>
                  <a:txBody>
                    <a:bodyPr wrap="square"/>
                    <a:lstStyle/>
                    <a:p>
                      <a:r>
                        <a:rPr sz="1875" b="0">
                          <a:solidFill>
                            <a:srgbClr val="F3F7FA"/>
                          </a:solidFill>
                          <a:latin typeface="Malgun Gothic"/>
                          <a:ea typeface="Malgun Gothic"/>
                          <a:cs typeface="Malgun Gothic"/>
                        </a:rPr>
                        <a:t>텍스트 540건</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공격 270 / 대조 270, 파일 대조</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전체·유형별 분리 평가</a:t>
                      </a:r>
                    </a:p>
                  </a:txBody>
                  <a:tcPr marL="91440" marR="91440" marT="45720" marB="45720" anchor="ctr">
                    <a:solidFill>
                      <a:srgbClr val="102638"/>
                    </a:solidFill>
                  </a:tcPr>
                </a:tc>
              </a:tr>
              <a:tr h="685800">
                <a:tc>
                  <a:txBody>
                    <a:bodyPr wrap="square"/>
                    <a:lstStyle/>
                    <a:p>
                      <a:r>
                        <a:rPr sz="1875" b="0">
                          <a:solidFill>
                            <a:srgbClr val="F3F7FA"/>
                          </a:solidFill>
                          <a:latin typeface="Malgun Gothic"/>
                          <a:ea typeface="Malgun Gothic"/>
                          <a:cs typeface="Malgun Gothic"/>
                        </a:rPr>
                        <a:t>Astra 텍스트 270건</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공격만 평가, PASS 5 / HOLD 23</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정상 대조 추가 후 오탐 평가</a:t>
                      </a:r>
                    </a:p>
                  </a:txBody>
                  <a:tcPr marL="91440" marR="91440" marT="45720" marB="45720" anchor="ctr">
                    <a:solidFill>
                      <a:srgbClr val="102638"/>
                    </a:solidFill>
                  </a:tcPr>
                </a:tc>
              </a:tr>
              <a:tr h="685800">
                <a:tc>
                  <a:txBody>
                    <a:bodyPr wrap="square"/>
                    <a:lstStyle/>
                    <a:p>
                      <a:r>
                        <a:rPr sz="1875" b="0">
                          <a:solidFill>
                            <a:srgbClr val="F3F7FA"/>
                          </a:solidFill>
                          <a:latin typeface="Malgun Gothic"/>
                          <a:ea typeface="Malgun Gothic"/>
                          <a:cs typeface="Malgun Gothic"/>
                        </a:rPr>
                        <a:t>Astra 이미지 64개</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실제 분류 완료, 라벨 UNKNOWN</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정답·정상 계약 매핑 필요</a:t>
                      </a:r>
                    </a:p>
                  </a:txBody>
                  <a:tcPr marL="91440" marR="91440" marT="45720" marB="45720" anchor="ctr">
                    <a:solidFill>
                      <a:srgbClr val="102638"/>
                    </a:solidFill>
                  </a:tcPr>
                </a:tc>
              </a:tr>
              <a:tr h="685800">
                <a:tc>
                  <a:txBody>
                    <a:bodyPr wrap="square"/>
                    <a:lstStyle/>
                    <a:p>
                      <a:r>
                        <a:rPr sz="1875" b="0">
                          <a:solidFill>
                            <a:srgbClr val="F3F7FA"/>
                          </a:solidFill>
                          <a:latin typeface="Malgun Gothic"/>
                          <a:ea typeface="Malgun Gothic"/>
                          <a:cs typeface="Malgun Gothic"/>
                        </a:rPr>
                        <a:t>물리 실행</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2D 정상 완료 기록</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Isaac 정상·차단·정지 결과</a:t>
                      </a:r>
                    </a:p>
                  </a:txBody>
                  <a:tcPr marL="91440" marR="91440" marT="45720" marB="45720" anchor="ctr">
                    <a:solidFill>
                      <a:srgbClr val="102638"/>
                    </a:solidFill>
                  </a:tcPr>
                </a:tc>
              </a:tr>
            </a:tbl>
          </a:graphicData>
        </a:graphic>
      </p:graphicFrame>
      <p:sp>
        <p:nvSpPr>
          <p:cNvPr id="5" name="">
            <a:extLst xmlns:a="http://schemas.openxmlformats.org/drawingml/2006/main">
              <a:ext uri="{FF2B5EF4-FFF2-40B4-BE49-F238E27FC236}">
                <a16:creationId xmlns:a16="http://schemas.microsoft.com/office/drawing/2014/main" id="{6CF439B5-3FC0-4081-8C1D-0A91A91F7861}"/>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모델 입력에서 정답과 기존 결과를 제외했습니다. 샘플 선택 편향과 소규모 평가의 한계를 유지합니다.</a:t>
            </a:r>
          </a:p>
        </p:txBody>
      </p:sp>
    </p:spTree>
    <p:extLst>
      <p:ext uri="{BB962C8B-B14F-4D97-AF65-F5344CB8AC3E}">
        <p14:creationId xmlns:p14="http://schemas.microsoft.com/office/powerpoint/2010/main" val="1257559089"/>
      </p:ext>
    </p:extLst>
  </p:cSld>
</p:sld>
</file>

<file path=ppt/slides/slide10.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A49BE3B-C855-4B19-9C98-F85612C7448C}"/>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실제 데모</a:t>
            </a:r>
          </a:p>
        </p:txBody>
      </p:sp>
      <p:sp>
        <p:nvSpPr>
          <p:cNvPr id="2" name="">
            <a:extLst xmlns:a="http://schemas.openxmlformats.org/drawingml/2006/main">
              <a:ext uri="{FF2B5EF4-FFF2-40B4-BE49-F238E27FC236}">
                <a16:creationId xmlns:a16="http://schemas.microsoft.com/office/drawing/2014/main" id="{26722334-CD55-46D4-B5FC-5563E5519B4B}"/>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프로토타입에서 확인한 실행 제어</a:t>
            </a:r>
          </a:p>
        </p:txBody>
      </p:sp>
      <p:sp>
        <p:nvSpPr>
          <p:cNvPr id="3" name="">
            <a:extLst xmlns:a="http://schemas.openxmlformats.org/drawingml/2006/main">
              <a:ext uri="{FF2B5EF4-FFF2-40B4-BE49-F238E27FC236}">
                <a16:creationId xmlns:a16="http://schemas.microsoft.com/office/drawing/2014/main" id="{4EA365CF-26BD-45EF-AFC8-1E52CE138807}"/>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10</a:t>
            </a:r>
          </a:p>
        </p:txBody>
      </p:sp>
      <p:pic>
        <p:nvPicPr>
          <p:cNvPr id="4" name="">
            <a:extLst xmlns:a="http://schemas.openxmlformats.org/drawingml/2006/main">
              <a:ext uri="{FF2B5EF4-FFF2-40B4-BE49-F238E27FC236}">
                <a16:creationId xmlns:a16="http://schemas.microsoft.com/office/drawing/2014/main" id="{051B501F-F05C-4C2C-8FA6-D1C795BF1555}"/>
              </a:ext>
            </a:extLst>
          </p:cNvPr>
          <p:cNvPicPr>
            <a:picLocks xmlns:a="http://schemas.openxmlformats.org/drawingml/2006/main" noChangeAspect="1"/>
          </p:cNvPicPr>
          <p:nvPr/>
        </p:nvPicPr>
        <p:blipFill>
          <a:blip xmlns:r="http://schemas.openxmlformats.org/officeDocument/2006/relationships" xmlns:a="http://schemas.openxmlformats.org/drawingml/2006/main" r:embed="R78e3e549387e4a3d"/>
          <a:stretch xmlns:a="http://schemas.openxmlformats.org/drawingml/2006/main"/>
        </p:blipFill>
        <p:spPr>
          <a:xfrm xmlns:a="http://schemas.openxmlformats.org/drawingml/2006/main">
            <a:off x="609600" y="2017395"/>
            <a:ext cx="4857750" cy="345186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8E086C6-C850-460C-9E50-E1C241613379}"/>
              </a:ext>
            </a:extLst>
          </p:cNvPr>
          <p:cNvSpPr>
            <a:spLocks xmlns:a="http://schemas.openxmlformats.org/drawingml/2006/main" noGrp="1"/>
          </p:cNvSpPr>
          <p:nvPr/>
        </p:nvSpPr>
        <p:spPr>
          <a:xfrm xmlns:a="http://schemas.openxmlformats.org/drawingml/2006/main">
            <a:off x="5943600" y="1971675"/>
            <a:ext cx="542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5DE0C0"/>
                </a:solidFill>
                <a:latin typeface="Malgun Gothic"/>
                <a:ea typeface="Malgun Gothic"/>
                <a:cs typeface="Malgun Gothic"/>
              </a:defRPr>
            </a:defPPr>
          </a:lstStyle>
          <a:p xmlns:a="http://schemas.openxmlformats.org/drawingml/2006/main">
            <a:pPr algn="l">
              <a:buNone/>
              <a:defRPr sz="2175" b="1">
                <a:solidFill>
                  <a:srgbClr val="5DE0C0"/>
                </a:solidFill>
                <a:latin typeface="Malgun Gothic"/>
                <a:ea typeface="Malgun Gothic"/>
                <a:cs typeface="Malgun Gothic"/>
              </a:defRPr>
            </a:pPr>
            <a:r>
              <a:rPr sz="2175" b="1">
                <a:solidFill>
                  <a:srgbClr val="5DE0C0"/>
                </a:solidFill>
                <a:latin typeface="Malgun Gothic"/>
                <a:ea typeface="Malgun Gothic"/>
                <a:cs typeface="Malgun Gothic"/>
              </a:rPr>
              <a:t>별도 계약 기반 시험</a:t>
            </a:r>
          </a:p>
        </p:txBody>
      </p:sp>
      <p:sp>
        <p:nvSpPr>
          <p:cNvPr id="6" name="">
            <a:extLst xmlns:a="http://schemas.openxmlformats.org/drawingml/2006/main">
              <a:ext uri="{FF2B5EF4-FFF2-40B4-BE49-F238E27FC236}">
                <a16:creationId xmlns:a16="http://schemas.microsoft.com/office/drawing/2014/main" id="{C337ACC1-71BF-4A14-9B6B-972BBE4A9AD9}"/>
              </a:ext>
            </a:extLst>
          </p:cNvPr>
          <p:cNvSpPr>
            <a:spLocks xmlns:a="http://schemas.openxmlformats.org/drawingml/2006/main" noGrp="1"/>
          </p:cNvSpPr>
          <p:nvPr/>
        </p:nvSpPr>
        <p:spPr>
          <a:xfrm xmlns:a="http://schemas.openxmlformats.org/drawingml/2006/main">
            <a:off x="5943600" y="2524125"/>
            <a:ext cx="5429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3F7FA"/>
                </a:solidFill>
                <a:latin typeface="Malgun Gothic"/>
                <a:ea typeface="Malgun Gothic"/>
                <a:cs typeface="Malgun Gothic"/>
              </a:defRPr>
            </a:defPPr>
          </a:lstStyle>
          <a:p xmlns:a="http://schemas.openxmlformats.org/drawingml/2006/main">
            <a:pPr algn="l">
              <a:buNone/>
              <a:defRPr sz="2100" b="0">
                <a:solidFill>
                  <a:srgbClr val="F3F7FA"/>
                </a:solidFill>
                <a:latin typeface="Malgun Gothic"/>
                <a:ea typeface="Malgun Gothic"/>
                <a:cs typeface="Malgun Gothic"/>
              </a:defRPr>
            </a:pPr>
            <a:r>
              <a:rPr sz="2100" b="0">
                <a:solidFill>
                  <a:srgbClr val="F3F7FA"/>
                </a:solidFill>
                <a:latin typeface="Malgun Gothic"/>
                <a:ea typeface="Malgun Gothic"/>
                <a:cs typeface="Malgun Gothic"/>
              </a:rPr>
              <a:t>정상 TEXT·IMAGE·IMAGE+TEXT: READY</a:t>
            </a:r>
          </a:p>
          <a:p xmlns:a="http://schemas.openxmlformats.org/drawingml/2006/main">
            <a:pPr algn="l">
              <a:buNone/>
              <a:defRPr sz="2100" b="0">
                <a:solidFill>
                  <a:srgbClr val="F3F7FA"/>
                </a:solidFill>
                <a:latin typeface="Malgun Gothic"/>
                <a:ea typeface="Malgun Gothic"/>
                <a:cs typeface="Malgun Gothic"/>
              </a:defRPr>
            </a:pPr>
            <a:r>
              <a:rPr sz="2100" b="0">
                <a:solidFill>
                  <a:srgbClr val="F3F7FA"/>
                </a:solidFill>
                <a:latin typeface="Malgun Gothic"/>
                <a:ea typeface="Malgun Gothic"/>
                <a:cs typeface="Malgun Gothic"/>
              </a:rPr>
              <a:t>순서 충돌: BLOCK</a:t>
            </a:r>
          </a:p>
        </p:txBody>
      </p:sp>
      <p:sp>
        <p:nvSpPr>
          <p:cNvPr id="7" name="">
            <a:extLst xmlns:a="http://schemas.openxmlformats.org/drawingml/2006/main">
              <a:ext uri="{FF2B5EF4-FFF2-40B4-BE49-F238E27FC236}">
                <a16:creationId xmlns:a16="http://schemas.microsoft.com/office/drawing/2014/main" id="{99A9D59C-336D-457C-B2CD-F682678F96B0}"/>
              </a:ext>
            </a:extLst>
          </p:cNvPr>
          <p:cNvSpPr>
            <a:spLocks xmlns:a="http://schemas.openxmlformats.org/drawingml/2006/main" noGrp="1"/>
          </p:cNvSpPr>
          <p:nvPr/>
        </p:nvSpPr>
        <p:spPr>
          <a:xfrm xmlns:a="http://schemas.openxmlformats.org/drawingml/2006/main">
            <a:off x="5943600" y="3657600"/>
            <a:ext cx="5619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5DE0C0"/>
                </a:solidFill>
                <a:latin typeface="Malgun Gothic"/>
                <a:ea typeface="Malgun Gothic"/>
                <a:cs typeface="Malgun Gothic"/>
              </a:defRPr>
            </a:defPPr>
          </a:lstStyle>
          <a:p xmlns:a="http://schemas.openxmlformats.org/drawingml/2006/main">
            <a:pPr algn="l">
              <a:buNone/>
              <a:defRPr sz="2175" b="1">
                <a:solidFill>
                  <a:srgbClr val="5DE0C0"/>
                </a:solidFill>
                <a:latin typeface="Malgun Gothic"/>
                <a:ea typeface="Malgun Gothic"/>
                <a:cs typeface="Malgun Gothic"/>
              </a:defRPr>
            </a:pPr>
            <a:r>
              <a:rPr sz="2175" b="1">
                <a:solidFill>
                  <a:srgbClr val="5DE0C0"/>
                </a:solidFill>
                <a:latin typeface="Malgun Gothic"/>
                <a:ea typeface="Malgun Gothic"/>
                <a:cs typeface="Malgun Gothic"/>
              </a:rPr>
              <a:t>2D 모의 실행·중단 제어</a:t>
            </a:r>
          </a:p>
        </p:txBody>
      </p:sp>
      <p:sp>
        <p:nvSpPr>
          <p:cNvPr id="8" name="">
            <a:extLst xmlns:a="http://schemas.openxmlformats.org/drawingml/2006/main">
              <a:ext uri="{FF2B5EF4-FFF2-40B4-BE49-F238E27FC236}">
                <a16:creationId xmlns:a16="http://schemas.microsoft.com/office/drawing/2014/main" id="{42FE2B6A-4187-4E40-AB2A-DECF70D98F3A}"/>
              </a:ext>
            </a:extLst>
          </p:cNvPr>
          <p:cNvSpPr>
            <a:spLocks xmlns:a="http://schemas.openxmlformats.org/drawingml/2006/main" noGrp="1"/>
          </p:cNvSpPr>
          <p:nvPr/>
        </p:nvSpPr>
        <p:spPr>
          <a:xfrm xmlns:a="http://schemas.openxmlformats.org/drawingml/2006/main">
            <a:off x="5943600" y="4200525"/>
            <a:ext cx="5619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7FA"/>
                </a:solidFill>
                <a:latin typeface="Malgun Gothic"/>
                <a:ea typeface="Malgun Gothic"/>
                <a:cs typeface="Malgun Gothic"/>
              </a:defRPr>
            </a:defPPr>
          </a:lstStyle>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정상 운반 8개 명령 완료 기록</a:t>
            </a:r>
          </a:p>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정지 후 기존 허가 폐기</a:t>
            </a:r>
          </a:p>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새 관측 없이 자동 재개 금지</a:t>
            </a:r>
          </a:p>
        </p:txBody>
      </p:sp>
      <p:sp>
        <p:nvSpPr>
          <p:cNvPr id="9" name="">
            <a:extLst xmlns:a="http://schemas.openxmlformats.org/drawingml/2006/main">
              <a:ext uri="{FF2B5EF4-FFF2-40B4-BE49-F238E27FC236}">
                <a16:creationId xmlns:a16="http://schemas.microsoft.com/office/drawing/2014/main" id="{4E9D4EC1-0BC3-497D-8C1C-C73FEB8C3484}"/>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확인 범위: 2D synthetic replay. Isaac 3D 정상 작업·필터 통합·실제 제동 시간은 미검증입니다.</a:t>
            </a:r>
          </a:p>
        </p:txBody>
      </p:sp>
    </p:spTree>
    <p:extLst>
      <p:ext uri="{BB962C8B-B14F-4D97-AF65-F5344CB8AC3E}">
        <p14:creationId xmlns:p14="http://schemas.microsoft.com/office/powerpoint/2010/main" val="35461779"/>
      </p:ext>
    </p:extLst>
  </p:cSld>
</p:sld>
</file>

<file path=ppt/slides/slide11.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DF449CF-5D1E-4537-BD1C-838988CF4A90}"/>
              </a:ext>
            </a:extLst>
          </p:cNvPr>
          <p:cNvSpPr>
            <a:spLocks xmlns:a="http://schemas.openxmlformats.org/drawingml/2006/main" noGrp="1"/>
          </p:cNvSpPr>
          <p:nvPr/>
        </p:nvSpPr>
        <p:spPr>
          <a:xfrm xmlns:a="http://schemas.openxmlformats.org/drawingml/2006/main">
            <a:off x="609600" y="3619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기존 입력 분류 334건</a:t>
            </a:r>
          </a:p>
        </p:txBody>
      </p:sp>
      <p:sp>
        <p:nvSpPr>
          <p:cNvPr id="2" name="">
            <a:extLst xmlns:a="http://schemas.openxmlformats.org/drawingml/2006/main">
              <a:ext uri="{FF2B5EF4-FFF2-40B4-BE49-F238E27FC236}">
                <a16:creationId xmlns:a16="http://schemas.microsoft.com/office/drawing/2014/main" id="{C28C13E7-D7E7-4A45-BF94-3E249B593CE1}"/>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입력 필터의 차단·보류·통과 분포</a:t>
            </a:r>
          </a:p>
        </p:txBody>
      </p:sp>
      <p:sp>
        <p:nvSpPr>
          <p:cNvPr id="3" name="">
            <a:extLst xmlns:a="http://schemas.openxmlformats.org/drawingml/2006/main">
              <a:ext uri="{FF2B5EF4-FFF2-40B4-BE49-F238E27FC236}">
                <a16:creationId xmlns:a16="http://schemas.microsoft.com/office/drawing/2014/main" id="{DB8EE025-EB01-4C30-A0B7-526CD72C0A18}"/>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11</a:t>
            </a:r>
          </a:p>
        </p:txBody>
      </p:sp>
      <p:sp>
        <p:nvSpPr>
          <p:cNvPr id="4" name="">
            <a:extLst xmlns:a="http://schemas.openxmlformats.org/drawingml/2006/main">
              <a:ext uri="{FF2B5EF4-FFF2-40B4-BE49-F238E27FC236}">
                <a16:creationId xmlns:a16="http://schemas.microsoft.com/office/drawing/2014/main" id="{DD300032-7410-45DB-BE59-C4A3DF42D24B}"/>
              </a:ext>
            </a:extLst>
          </p:cNvPr>
          <p:cNvSpPr>
            <a:spLocks xmlns:a="http://schemas.openxmlformats.org/drawingml/2006/main" noGrp="1"/>
          </p:cNvSpPr>
          <p:nvPr/>
        </p:nvSpPr>
        <p:spPr>
          <a:xfrm xmlns:a="http://schemas.openxmlformats.org/drawingml/2006/main">
            <a:off x="609600" y="2047875"/>
            <a:ext cx="5238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150" b="1">
                <a:solidFill>
                  <a:srgbClr val="5DE0C0"/>
                </a:solidFill>
                <a:latin typeface="Malgun Gothic"/>
                <a:ea typeface="Malgun Gothic"/>
                <a:cs typeface="Malgun Gothic"/>
              </a:defRPr>
            </a:defPPr>
          </a:lstStyle>
          <a:p xmlns:a="http://schemas.openxmlformats.org/drawingml/2006/main">
            <a:pPr algn="l">
              <a:defRPr sz="6150" b="1">
                <a:solidFill>
                  <a:srgbClr val="5DE0C0"/>
                </a:solidFill>
                <a:latin typeface="Malgun Gothic"/>
                <a:ea typeface="Malgun Gothic"/>
                <a:cs typeface="Malgun Gothic"/>
              </a:defRPr>
            </a:pPr>
            <a:r>
              <a:rPr sz="6150" b="1">
                <a:solidFill>
                  <a:srgbClr val="5DE0C0"/>
                </a:solidFill>
                <a:latin typeface="Malgun Gothic"/>
                <a:ea typeface="Malgun Gothic"/>
                <a:cs typeface="Malgun Gothic"/>
              </a:rPr>
              <a:t>89.63%</a:t>
            </a:r>
          </a:p>
        </p:txBody>
      </p:sp>
      <p:sp>
        <p:nvSpPr>
          <p:cNvPr id="5" name="">
            <a:extLst xmlns:a="http://schemas.openxmlformats.org/drawingml/2006/main">
              <a:ext uri="{FF2B5EF4-FFF2-40B4-BE49-F238E27FC236}">
                <a16:creationId xmlns:a16="http://schemas.microsoft.com/office/drawing/2014/main" id="{83473A0D-32EC-494B-8E6D-E2EADC6630D2}"/>
              </a:ext>
            </a:extLst>
          </p:cNvPr>
          <p:cNvSpPr>
            <a:spLocks xmlns:a="http://schemas.openxmlformats.org/drawingml/2006/main" noGrp="1"/>
          </p:cNvSpPr>
          <p:nvPr/>
        </p:nvSpPr>
        <p:spPr>
          <a:xfrm xmlns:a="http://schemas.openxmlformats.org/drawingml/2006/main">
            <a:off x="609600" y="3267075"/>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3F7FA"/>
                </a:solidFill>
                <a:latin typeface="Malgun Gothic"/>
                <a:ea typeface="Malgun Gothic"/>
                <a:cs typeface="Malgun Gothic"/>
              </a:defRPr>
            </a:defPPr>
          </a:lstStyle>
          <a:p xmlns:a="http://schemas.openxmlformats.org/drawingml/2006/main">
            <a:pPr algn="l">
              <a:defRPr sz="2325" b="1">
                <a:solidFill>
                  <a:srgbClr val="F3F7FA"/>
                </a:solidFill>
                <a:latin typeface="Malgun Gothic"/>
                <a:ea typeface="Malgun Gothic"/>
                <a:cs typeface="Malgun Gothic"/>
              </a:defRPr>
            </a:pPr>
            <a:r>
              <a:rPr sz="2325" b="1">
                <a:solidFill>
                  <a:srgbClr val="F3F7FA"/>
                </a:solidFill>
                <a:latin typeface="Malgun Gothic"/>
                <a:ea typeface="Malgun Gothic"/>
                <a:cs typeface="Malgun Gothic"/>
              </a:rPr>
              <a:t>텍스트 공격 라벨 입력 차단</a:t>
            </a:r>
          </a:p>
        </p:txBody>
      </p:sp>
      <p:sp>
        <p:nvSpPr>
          <p:cNvPr id="6" name="">
            <a:extLst xmlns:a="http://schemas.openxmlformats.org/drawingml/2006/main">
              <a:ext uri="{FF2B5EF4-FFF2-40B4-BE49-F238E27FC236}">
                <a16:creationId xmlns:a16="http://schemas.microsoft.com/office/drawing/2014/main" id="{ED1AE656-AF32-4727-B218-43377B82DA50}"/>
              </a:ext>
            </a:extLst>
          </p:cNvPr>
          <p:cNvSpPr>
            <a:spLocks xmlns:a="http://schemas.openxmlformats.org/drawingml/2006/main" noGrp="1"/>
          </p:cNvSpPr>
          <p:nvPr/>
        </p:nvSpPr>
        <p:spPr>
          <a:xfrm xmlns:a="http://schemas.openxmlformats.org/drawingml/2006/main">
            <a:off x="609600" y="3933825"/>
            <a:ext cx="523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3F7FA"/>
                </a:solidFill>
                <a:latin typeface="Malgun Gothic"/>
                <a:ea typeface="Malgun Gothic"/>
                <a:cs typeface="Malgun Gothic"/>
              </a:defRPr>
            </a:defPPr>
          </a:lstStyle>
          <a:p xmlns:a="http://schemas.openxmlformats.org/drawingml/2006/main">
            <a:pPr algn="l">
              <a:defRPr sz="2550" b="0">
                <a:solidFill>
                  <a:srgbClr val="F3F7FA"/>
                </a:solidFill>
                <a:latin typeface="Malgun Gothic"/>
                <a:ea typeface="Malgun Gothic"/>
                <a:cs typeface="Malgun Gothic"/>
              </a:defRPr>
            </a:pPr>
            <a:r>
              <a:rPr sz="2550" b="0">
                <a:solidFill>
                  <a:srgbClr val="F3F7FA"/>
                </a:solidFill>
                <a:latin typeface="Malgun Gothic"/>
                <a:ea typeface="Malgun Gothic"/>
                <a:cs typeface="Malgun Gothic"/>
              </a:rPr>
              <a:t>242 / 270건</a:t>
            </a:r>
          </a:p>
        </p:txBody>
      </p:sp>
      <p:sp>
        <p:nvSpPr>
          <p:cNvPr id="7" name="">
            <a:extLst xmlns:a="http://schemas.openxmlformats.org/drawingml/2006/main">
              <a:ext uri="{FF2B5EF4-FFF2-40B4-BE49-F238E27FC236}">
                <a16:creationId xmlns:a16="http://schemas.microsoft.com/office/drawing/2014/main" id="{3DD8F627-F983-465F-A55C-137DFC2284B3}"/>
              </a:ext>
            </a:extLst>
          </p:cNvPr>
          <p:cNvSpPr>
            <a:spLocks xmlns:a="http://schemas.openxmlformats.org/drawingml/2006/main" noGrp="1"/>
          </p:cNvSpPr>
          <p:nvPr/>
        </p:nvSpPr>
        <p:spPr>
          <a:xfrm xmlns:a="http://schemas.openxmlformats.org/drawingml/2006/main">
            <a:off x="609600" y="4714875"/>
            <a:ext cx="5000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3F7FA"/>
                </a:solidFill>
                <a:latin typeface="Malgun Gothic"/>
                <a:ea typeface="Malgun Gothic"/>
                <a:cs typeface="Malgun Gothic"/>
              </a:defRPr>
            </a:defPPr>
          </a:lstStyle>
          <a:p xmlns:a="http://schemas.openxmlformats.org/drawingml/2006/main">
            <a:pPr algn="l">
              <a:defRPr sz="1875" b="0">
                <a:solidFill>
                  <a:srgbClr val="F3F7FA"/>
                </a:solidFill>
                <a:latin typeface="Malgun Gothic"/>
                <a:ea typeface="Malgun Gothic"/>
                <a:cs typeface="Malgun Gothic"/>
              </a:defRPr>
            </a:pPr>
            <a:r>
              <a:rPr sz="1875" b="0">
                <a:solidFill>
                  <a:srgbClr val="F3F7FA"/>
                </a:solidFill>
                <a:latin typeface="Malgun Gothic"/>
                <a:ea typeface="Malgun Gothic"/>
                <a:cs typeface="Malgun Gothic"/>
              </a:rPr>
              <a:t>통과한 입력은 후속 실행 검증이 필요합니다</a:t>
            </a:r>
          </a:p>
        </p:txBody>
      </p:sp>
      <p:graphicFrame>
        <p:nvGraphicFramePr>
          <p:cNvPr id="8" name="">
            <a:extLst xmlns:a="http://schemas.openxmlformats.org/drawingml/2006/main">
              <a:ext uri="{FF2B5EF4-FFF2-40B4-BE49-F238E27FC236}">
                <a16:creationId xmlns:a16="http://schemas.microsoft.com/office/drawing/2014/main" id="{58E9398C-17F4-4DEE-AE36-3B5AB4E06B98}"/>
              </a:ext>
            </a:extLst>
          </p:cNvPr>
          <p:cNvGraphicFramePr/>
          <p:nvPr/>
        </p:nvGraphicFramePr>
        <p:xfrm>
          <a:off xmlns:a="http://schemas.openxmlformats.org/drawingml/2006/main" x="6200775" y="2076450"/>
          <a:ext xmlns:a="http://schemas.openxmlformats.org/drawingml/2006/main" cx="5381625" cy="2714625"/>
        </p:xfrm>
        <a:graphic xmlns:a="http://schemas.openxmlformats.org/drawingml/2006/main">
          <a:graphicData uri="http://schemas.openxmlformats.org/drawingml/2006/table">
            <a:tbl>
              <a:tblPr/>
              <a:tblGrid>
                <a:gridCol w="1762125"/>
                <a:gridCol w="1238250"/>
                <a:gridCol w="1238250"/>
                <a:gridCol w="1143000"/>
              </a:tblGrid>
              <a:tr h="678656">
                <a:tc>
                  <a:txBody>
                    <a:bodyPr wrap="square"/>
                    <a:lstStyle/>
                    <a:p>
                      <a:r>
                        <a:rPr sz="1800" b="1">
                          <a:solidFill>
                            <a:srgbClr val="5DE0C0"/>
                          </a:solidFill>
                          <a:latin typeface="Malgun Gothic"/>
                          <a:ea typeface="Malgun Gothic"/>
                          <a:cs typeface="Malgun Gothic"/>
                        </a:rPr>
                        <a:t>입력</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차단</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보류</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통과</a:t>
                      </a:r>
                    </a:p>
                  </a:txBody>
                  <a:tcPr marL="91440" marR="91440" marT="45720" marB="45720" anchor="ctr">
                    <a:solidFill>
                      <a:srgbClr val="173C4C"/>
                    </a:solidFill>
                  </a:tcPr>
                </a:tc>
              </a:tr>
              <a:tr h="678656">
                <a:tc>
                  <a:txBody>
                    <a:bodyPr wrap="square"/>
                    <a:lstStyle/>
                    <a:p>
                      <a:r>
                        <a:rPr sz="1800" b="0">
                          <a:solidFill>
                            <a:srgbClr val="F3F7FA"/>
                          </a:solidFill>
                          <a:latin typeface="Malgun Gothic"/>
                          <a:ea typeface="Malgun Gothic"/>
                          <a:cs typeface="Malgun Gothic"/>
                        </a:rPr>
                        <a:t>텍스트 270</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242</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23</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5</a:t>
                      </a:r>
                    </a:p>
                  </a:txBody>
                  <a:tcPr marL="91440" marR="91440" marT="45720" marB="45720" anchor="ctr">
                    <a:solidFill>
                      <a:srgbClr val="102638"/>
                    </a:solidFill>
                  </a:tcPr>
                </a:tc>
              </a:tr>
              <a:tr h="678656">
                <a:tc>
                  <a:txBody>
                    <a:bodyPr wrap="square"/>
                    <a:lstStyle/>
                    <a:p>
                      <a:r>
                        <a:rPr sz="1800" b="0">
                          <a:solidFill>
                            <a:srgbClr val="F3F7FA"/>
                          </a:solidFill>
                          <a:latin typeface="Malgun Gothic"/>
                          <a:ea typeface="Malgun Gothic"/>
                          <a:cs typeface="Malgun Gothic"/>
                        </a:rPr>
                        <a:t>이미지 64</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25</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30</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9</a:t>
                      </a:r>
                    </a:p>
                  </a:txBody>
                  <a:tcPr marL="91440" marR="91440" marT="45720" marB="45720" anchor="ctr">
                    <a:solidFill>
                      <a:srgbClr val="102638"/>
                    </a:solidFill>
                  </a:tcPr>
                </a:tc>
              </a:tr>
              <a:tr h="678656">
                <a:tc>
                  <a:txBody>
                    <a:bodyPr wrap="square"/>
                    <a:lstStyle/>
                    <a:p>
                      <a:r>
                        <a:rPr sz="1800" b="0">
                          <a:solidFill>
                            <a:srgbClr val="F3F7FA"/>
                          </a:solidFill>
                          <a:latin typeface="Malgun Gothic"/>
                          <a:ea typeface="Malgun Gothic"/>
                          <a:cs typeface="Malgun Gothic"/>
                        </a:rPr>
                        <a:t>전체 334</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267</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53</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14</a:t>
                      </a:r>
                    </a:p>
                  </a:txBody>
                  <a:tcPr marL="91440" marR="91440" marT="45720" marB="45720" anchor="ctr">
                    <a:solidFill>
                      <a:srgbClr val="102638"/>
                    </a:solidFill>
                  </a:tcPr>
                </a:tc>
              </a:tr>
            </a:tbl>
          </a:graphicData>
        </a:graphic>
      </p:graphicFrame>
      <p:sp>
        <p:nvSpPr>
          <p:cNvPr id="9" name="">
            <a:extLst xmlns:a="http://schemas.openxmlformats.org/drawingml/2006/main">
              <a:ext uri="{FF2B5EF4-FFF2-40B4-BE49-F238E27FC236}">
                <a16:creationId xmlns:a16="http://schemas.microsoft.com/office/drawing/2014/main" id="{BA22E26D-C3C3-4EEB-9641-7A78678C4C64}"/>
              </a:ext>
            </a:extLst>
          </p:cNvPr>
          <p:cNvSpPr>
            <a:spLocks xmlns:a="http://schemas.openxmlformats.org/drawingml/2006/main" noGrp="1"/>
          </p:cNvSpPr>
          <p:nvPr/>
        </p:nvSpPr>
        <p:spPr>
          <a:xfrm xmlns:a="http://schemas.openxmlformats.org/drawingml/2006/main">
            <a:off x="6200775" y="5019675"/>
            <a:ext cx="5381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5DE0C0"/>
                </a:solidFill>
                <a:latin typeface="Malgun Gothic"/>
                <a:ea typeface="Malgun Gothic"/>
                <a:cs typeface="Malgun Gothic"/>
              </a:defRPr>
            </a:defPPr>
          </a:lstStyle>
          <a:p xmlns:a="http://schemas.openxmlformats.org/drawingml/2006/main">
            <a:pPr algn="l">
              <a:defRPr sz="1875" b="1">
                <a:solidFill>
                  <a:srgbClr val="5DE0C0"/>
                </a:solidFill>
                <a:latin typeface="Malgun Gothic"/>
                <a:ea typeface="Malgun Gothic"/>
                <a:cs typeface="Malgun Gothic"/>
              </a:defRPr>
            </a:pPr>
            <a:r>
              <a:rPr sz="1875" b="1">
                <a:solidFill>
                  <a:srgbClr val="5DE0C0"/>
                </a:solidFill>
                <a:latin typeface="Malgun Gothic"/>
                <a:ea typeface="Malgun Gothic"/>
                <a:cs typeface="Malgun Gothic"/>
              </a:rPr>
              <a:t>보류는 차단 성공에 합산하지 않습니다</a:t>
            </a:r>
          </a:p>
        </p:txBody>
      </p:sp>
      <p:sp>
        <p:nvSpPr>
          <p:cNvPr id="10" name="">
            <a:extLst xmlns:a="http://schemas.openxmlformats.org/drawingml/2006/main">
              <a:ext uri="{FF2B5EF4-FFF2-40B4-BE49-F238E27FC236}">
                <a16:creationId xmlns:a16="http://schemas.microsoft.com/office/drawing/2014/main" id="{8E444968-E9DF-4B0E-8C68-02711E655D77}"/>
              </a:ext>
            </a:extLst>
          </p:cNvPr>
          <p:cNvSpPr>
            <a:spLocks xmlns:a="http://schemas.openxmlformats.org/drawingml/2006/main" noGrp="1"/>
          </p:cNvSpPr>
          <p:nvPr/>
        </p:nvSpPr>
        <p:spPr>
          <a:xfrm xmlns:a="http://schemas.openxmlformats.org/drawingml/2006/main">
            <a:off x="609600" y="5734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기존 입력 선별 결과이며 전체 실행 필터의 방어율·물리 공격 성공률이 아닙니다.</a:t>
            </a:r>
          </a:p>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이미지 정답·정상 대조가 없으며, 선정 위험 1~7 전체에 대한 검증은 별도로 필요합니다.</a:t>
            </a:r>
          </a:p>
        </p:txBody>
      </p:sp>
    </p:spTree>
    <p:extLst>
      <p:ext uri="{BB962C8B-B14F-4D97-AF65-F5344CB8AC3E}">
        <p14:creationId xmlns:p14="http://schemas.microsoft.com/office/powerpoint/2010/main" val="2073349990"/>
      </p:ext>
    </p:extLst>
  </p:cSld>
</p:sld>
</file>

<file path=ppt/slides/slide12.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0B68A79-947C-4BF5-A392-B1A4A1C1E5BA}"/>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개발 과정</a:t>
            </a:r>
          </a:p>
        </p:txBody>
      </p:sp>
      <p:sp>
        <p:nvSpPr>
          <p:cNvPr id="2" name="">
            <a:extLst xmlns:a="http://schemas.openxmlformats.org/drawingml/2006/main">
              <a:ext uri="{FF2B5EF4-FFF2-40B4-BE49-F238E27FC236}">
                <a16:creationId xmlns:a16="http://schemas.microsoft.com/office/drawing/2014/main" id="{144548BA-C5A2-49C4-BA53-74EF1BEA6BC7}"/>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Codex 개발 과정과 작업 구분</a:t>
            </a:r>
          </a:p>
        </p:txBody>
      </p:sp>
      <p:sp>
        <p:nvSpPr>
          <p:cNvPr id="3" name="">
            <a:extLst xmlns:a="http://schemas.openxmlformats.org/drawingml/2006/main">
              <a:ext uri="{FF2B5EF4-FFF2-40B4-BE49-F238E27FC236}">
                <a16:creationId xmlns:a16="http://schemas.microsoft.com/office/drawing/2014/main" id="{1D2F5057-2D1B-41DA-89A8-9E5706EAEED8}"/>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12</a:t>
            </a:r>
          </a:p>
        </p:txBody>
      </p:sp>
      <p:graphicFrame>
        <p:nvGraphicFramePr>
          <p:cNvPr id="4" name="">
            <a:extLst xmlns:a="http://schemas.openxmlformats.org/drawingml/2006/main">
              <a:ext uri="{FF2B5EF4-FFF2-40B4-BE49-F238E27FC236}">
                <a16:creationId xmlns:a16="http://schemas.microsoft.com/office/drawing/2014/main" id="{9747EE00-A1C5-445A-9172-82ADD30DB7C6}"/>
              </a:ext>
            </a:extLst>
          </p:cNvPr>
          <p:cNvGraphicFramePr/>
          <p:nvPr/>
        </p:nvGraphicFramePr>
        <p:xfrm>
          <a:off xmlns:a="http://schemas.openxmlformats.org/drawingml/2006/main" x="609600" y="1790700"/>
          <a:ext xmlns:a="http://schemas.openxmlformats.org/drawingml/2006/main" cx="10972800" cy="3143250"/>
        </p:xfrm>
        <a:graphic xmlns:a="http://schemas.openxmlformats.org/drawingml/2006/main">
          <a:graphicData uri="http://schemas.openxmlformats.org/drawingml/2006/table">
            <a:tbl>
              <a:tblPr/>
              <a:tblGrid>
                <a:gridCol w="2381250"/>
                <a:gridCol w="8591550"/>
              </a:tblGrid>
              <a:tr h="628650">
                <a:tc>
                  <a:txBody>
                    <a:bodyPr wrap="square"/>
                    <a:lstStyle/>
                    <a:p>
                      <a:r>
                        <a:rPr sz="1875" b="1">
                          <a:solidFill>
                            <a:srgbClr val="5DE0C0"/>
                          </a:solidFill>
                          <a:latin typeface="Malgun Gothic"/>
                          <a:ea typeface="Malgun Gothic"/>
                          <a:cs typeface="Malgun Gothic"/>
                        </a:rPr>
                        <a:t>구분</a:t>
                      </a:r>
                    </a:p>
                  </a:txBody>
                  <a:tcPr marL="91440" marR="91440" marT="45720" marB="45720" anchor="ctr">
                    <a:solidFill>
                      <a:srgbClr val="173C4C"/>
                    </a:solidFill>
                  </a:tcPr>
                </a:tc>
                <a:tc>
                  <a:txBody>
                    <a:bodyPr wrap="square"/>
                    <a:lstStyle/>
                    <a:p>
                      <a:r>
                        <a:rPr sz="1875" b="1">
                          <a:solidFill>
                            <a:srgbClr val="5DE0C0"/>
                          </a:solidFill>
                          <a:latin typeface="Malgun Gothic"/>
                          <a:ea typeface="Malgun Gothic"/>
                          <a:cs typeface="Malgun Gothic"/>
                        </a:rPr>
                        <a:t>자료 및 작업</a:t>
                      </a:r>
                    </a:p>
                  </a:txBody>
                  <a:tcPr marL="91440" marR="91440" marT="45720" marB="45720" anchor="ctr">
                    <a:solidFill>
                      <a:srgbClr val="173C4C"/>
                    </a:solidFill>
                  </a:tcPr>
                </a:tc>
              </a:tr>
              <a:tr h="628650">
                <a:tc>
                  <a:txBody>
                    <a:bodyPr wrap="square"/>
                    <a:lstStyle/>
                    <a:p>
                      <a:r>
                        <a:rPr sz="1875" b="0">
                          <a:solidFill>
                            <a:srgbClr val="F3F7FA"/>
                          </a:solidFill>
                          <a:latin typeface="Malgun Gothic"/>
                          <a:ea typeface="Malgun Gothic"/>
                          <a:cs typeface="Malgun Gothic"/>
                        </a:rPr>
                        <a:t>사전 자산</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기존 아이디어 PPT, 공격·대조 데이터, Isaac 장면</a:t>
                      </a:r>
                    </a:p>
                  </a:txBody>
                  <a:tcPr marL="91440" marR="91440" marT="45720" marB="45720" anchor="ctr">
                    <a:solidFill>
                      <a:srgbClr val="102638"/>
                    </a:solidFill>
                  </a:tcPr>
                </a:tc>
              </a:tr>
              <a:tr h="628650">
                <a:tc>
                  <a:txBody>
                    <a:bodyPr wrap="square"/>
                    <a:lstStyle/>
                    <a:p>
                      <a:r>
                        <a:rPr sz="1875" b="0">
                          <a:solidFill>
                            <a:srgbClr val="F3F7FA"/>
                          </a:solidFill>
                          <a:latin typeface="Malgun Gothic"/>
                          <a:ea typeface="Malgun Gothic"/>
                          <a:cs typeface="Malgun Gothic"/>
                        </a:rPr>
                        <a:t>오늘 구현</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로컬 필터·실행 제어·검증 기록·C++ 기하 검사</a:t>
                      </a:r>
                    </a:p>
                  </a:txBody>
                  <a:tcPr marL="91440" marR="91440" marT="45720" marB="45720" anchor="ctr">
                    <a:solidFill>
                      <a:srgbClr val="102638"/>
                    </a:solidFill>
                  </a:tcPr>
                </a:tc>
              </a:tr>
              <a:tr h="628650">
                <a:tc>
                  <a:txBody>
                    <a:bodyPr wrap="square"/>
                    <a:lstStyle/>
                    <a:p>
                      <a:r>
                        <a:rPr sz="1875" b="0">
                          <a:solidFill>
                            <a:srgbClr val="F3F7FA"/>
                          </a:solidFill>
                          <a:latin typeface="Malgun Gothic"/>
                          <a:ea typeface="Malgun Gothic"/>
                          <a:cs typeface="Malgun Gothic"/>
                        </a:rPr>
                        <a:t>개발 도구</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Codex 구현·문서화 / 독립 gpt-6-luna, max 코드 리뷰</a:t>
                      </a:r>
                    </a:p>
                  </a:txBody>
                  <a:tcPr marL="91440" marR="91440" marT="45720" marB="45720" anchor="ctr">
                    <a:solidFill>
                      <a:srgbClr val="102638"/>
                    </a:solidFill>
                  </a:tcPr>
                </a:tc>
              </a:tr>
              <a:tr h="628650">
                <a:tc>
                  <a:txBody>
                    <a:bodyPr wrap="square"/>
                    <a:lstStyle/>
                    <a:p>
                      <a:r>
                        <a:rPr sz="1875" b="0">
                          <a:solidFill>
                            <a:srgbClr val="F3F7FA"/>
                          </a:solidFill>
                          <a:latin typeface="Malgun Gothic"/>
                          <a:ea typeface="Malgun Gothic"/>
                          <a:cs typeface="Malgun Gothic"/>
                        </a:rPr>
                        <a:t>제출 증거</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저장소·최종 SHA·Codex 기록·PDF·데모와 작업 구분</a:t>
                      </a:r>
                    </a:p>
                  </a:txBody>
                  <a:tcPr marL="91440" marR="91440" marT="45720" marB="45720" anchor="ctr">
                    <a:solidFill>
                      <a:srgbClr val="102638"/>
                    </a:solidFill>
                  </a:tcPr>
                </a:tc>
              </a:tr>
            </a:tbl>
          </a:graphicData>
        </a:graphic>
      </p:graphicFrame>
      <p:sp>
        <p:nvSpPr>
          <p:cNvPr id="5" name="">
            <a:extLst xmlns:a="http://schemas.openxmlformats.org/drawingml/2006/main">
              <a:ext uri="{FF2B5EF4-FFF2-40B4-BE49-F238E27FC236}">
                <a16:creationId xmlns:a16="http://schemas.microsoft.com/office/drawing/2014/main" id="{BA095482-4F50-46EA-8905-5202F8A5F948}"/>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실험 모델 API 호출은 제품 평가용입니다. 개발·코딩·리뷰 도구는 Codex만 사용합니다.</a:t>
            </a:r>
          </a:p>
        </p:txBody>
      </p:sp>
    </p:spTree>
    <p:extLst>
      <p:ext uri="{BB962C8B-B14F-4D97-AF65-F5344CB8AC3E}">
        <p14:creationId xmlns:p14="http://schemas.microsoft.com/office/powerpoint/2010/main" val="414232002"/>
      </p:ext>
    </p:extLst>
  </p:cSld>
</p:sld>
</file>

<file path=ppt/slides/slide13.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A795EA-8A4B-49B1-9A66-915F290C715C}"/>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사업성과 다음 검증</a:t>
            </a:r>
          </a:p>
        </p:txBody>
      </p:sp>
      <p:sp>
        <p:nvSpPr>
          <p:cNvPr id="2" name="">
            <a:extLst xmlns:a="http://schemas.openxmlformats.org/drawingml/2006/main">
              <a:ext uri="{FF2B5EF4-FFF2-40B4-BE49-F238E27FC236}">
                <a16:creationId xmlns:a16="http://schemas.microsoft.com/office/drawing/2014/main" id="{4E7371B2-A4A1-4527-957F-BC2314CBB222}"/>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공통 엔진과 현장 계약으로 도입합니다</a:t>
            </a:r>
          </a:p>
        </p:txBody>
      </p:sp>
      <p:sp>
        <p:nvSpPr>
          <p:cNvPr id="3" name="">
            <a:extLst xmlns:a="http://schemas.openxmlformats.org/drawingml/2006/main">
              <a:ext uri="{FF2B5EF4-FFF2-40B4-BE49-F238E27FC236}">
                <a16:creationId xmlns:a16="http://schemas.microsoft.com/office/drawing/2014/main" id="{4161C828-EA5C-41AB-BD79-93C1F4F42769}"/>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13</a:t>
            </a:r>
          </a:p>
        </p:txBody>
      </p:sp>
      <p:graphicFrame>
        <p:nvGraphicFramePr>
          <p:cNvPr id="4" name="">
            <a:extLst xmlns:a="http://schemas.openxmlformats.org/drawingml/2006/main">
              <a:ext uri="{FF2B5EF4-FFF2-40B4-BE49-F238E27FC236}">
                <a16:creationId xmlns:a16="http://schemas.microsoft.com/office/drawing/2014/main" id="{06696A5E-F062-45F0-B5F7-20F12F058660}"/>
              </a:ext>
            </a:extLst>
          </p:cNvPr>
          <p:cNvGraphicFramePr/>
          <p:nvPr/>
        </p:nvGraphicFramePr>
        <p:xfrm>
          <a:off xmlns:a="http://schemas.openxmlformats.org/drawingml/2006/main" x="609600" y="1905000"/>
          <a:ext xmlns:a="http://schemas.openxmlformats.org/drawingml/2006/main" cx="10972800" cy="2314575"/>
        </p:xfrm>
        <a:graphic xmlns:a="http://schemas.openxmlformats.org/drawingml/2006/main">
          <a:graphicData uri="http://schemas.openxmlformats.org/drawingml/2006/table">
            <a:tbl>
              <a:tblPr/>
              <a:tblGrid>
                <a:gridCol w="3429000"/>
                <a:gridCol w="7543800"/>
              </a:tblGrid>
              <a:tr h="578644">
                <a:tc>
                  <a:txBody>
                    <a:bodyPr wrap="square"/>
                    <a:lstStyle/>
                    <a:p>
                      <a:r>
                        <a:rPr sz="2100" b="1">
                          <a:solidFill>
                            <a:srgbClr val="5DE0C0"/>
                          </a:solidFill>
                          <a:latin typeface="Malgun Gothic"/>
                          <a:ea typeface="Malgun Gothic"/>
                          <a:cs typeface="Malgun Gothic"/>
                        </a:rPr>
                        <a:t>고객에게 제공</a:t>
                      </a:r>
                    </a:p>
                  </a:txBody>
                  <a:tcPr marL="91440" marR="91440" marT="45720" marB="45720" anchor="ctr">
                    <a:solidFill>
                      <a:srgbClr val="173C4C"/>
                    </a:solidFill>
                  </a:tcPr>
                </a:tc>
                <a:tc>
                  <a:txBody>
                    <a:bodyPr wrap="square"/>
                    <a:lstStyle/>
                    <a:p>
                      <a:r>
                        <a:rPr sz="2100" b="1">
                          <a:solidFill>
                            <a:srgbClr val="5DE0C0"/>
                          </a:solidFill>
                          <a:latin typeface="Malgun Gothic"/>
                          <a:ea typeface="Malgun Gothic"/>
                          <a:cs typeface="Malgun Gothic"/>
                        </a:rPr>
                        <a:t>도입 방식</a:t>
                      </a:r>
                    </a:p>
                  </a:txBody>
                  <a:tcPr marL="91440" marR="91440" marT="45720" marB="45720" anchor="ctr">
                    <a:solidFill>
                      <a:srgbClr val="173C4C"/>
                    </a:solidFill>
                  </a:tcPr>
                </a:tc>
              </a:tr>
              <a:tr h="578644">
                <a:tc>
                  <a:txBody>
                    <a:bodyPr wrap="square"/>
                    <a:lstStyle/>
                    <a:p>
                      <a:r>
                        <a:rPr sz="2100" b="0">
                          <a:solidFill>
                            <a:srgbClr val="F3F7FA"/>
                          </a:solidFill>
                          <a:latin typeface="Malgun Gothic"/>
                          <a:ea typeface="Malgun Gothic"/>
                          <a:cs typeface="Malgun Gothic"/>
                        </a:rPr>
                        <a:t>실행 전 위험 검토</a:t>
                      </a:r>
                    </a:p>
                  </a:txBody>
                  <a:tcPr marL="91440" marR="91440" marT="45720" marB="45720" anchor="ctr">
                    <a:solidFill>
                      <a:srgbClr val="102638"/>
                    </a:solidFill>
                  </a:tcPr>
                </a:tc>
                <a:tc>
                  <a:txBody>
                    <a:bodyPr wrap="square"/>
                    <a:lstStyle/>
                    <a:p>
                      <a:r>
                        <a:rPr sz="2100" b="0">
                          <a:solidFill>
                            <a:srgbClr val="F3F7FA"/>
                          </a:solidFill>
                          <a:latin typeface="Malgun Gothic"/>
                          <a:ea typeface="Malgun Gothic"/>
                          <a:cs typeface="Malgun Gothic"/>
                        </a:rPr>
                        <a:t>공통 검증 엔진 + 현장 정상 계약</a:t>
                      </a:r>
                    </a:p>
                  </a:txBody>
                  <a:tcPr marL="91440" marR="91440" marT="45720" marB="45720" anchor="ctr">
                    <a:solidFill>
                      <a:srgbClr val="102638"/>
                    </a:solidFill>
                  </a:tcPr>
                </a:tc>
              </a:tr>
              <a:tr h="578644">
                <a:tc>
                  <a:txBody>
                    <a:bodyPr wrap="square"/>
                    <a:lstStyle/>
                    <a:p>
                      <a:r>
                        <a:rPr sz="2100" b="0">
                          <a:solidFill>
                            <a:srgbClr val="F3F7FA"/>
                          </a:solidFill>
                          <a:latin typeface="Malgun Gothic"/>
                          <a:ea typeface="Malgun Gothic"/>
                          <a:cs typeface="Malgun Gothic"/>
                        </a:rPr>
                        <a:t>장비별 연결</a:t>
                      </a:r>
                    </a:p>
                  </a:txBody>
                  <a:tcPr marL="91440" marR="91440" marT="45720" marB="45720" anchor="ctr">
                    <a:solidFill>
                      <a:srgbClr val="102638"/>
                    </a:solidFill>
                  </a:tcPr>
                </a:tc>
                <a:tc>
                  <a:txBody>
                    <a:bodyPr wrap="square"/>
                    <a:lstStyle/>
                    <a:p>
                      <a:r>
                        <a:rPr sz="2100" b="0">
                          <a:solidFill>
                            <a:srgbClr val="F3F7FA"/>
                          </a:solidFill>
                          <a:latin typeface="Malgun Gothic"/>
                          <a:ea typeface="Malgun Gothic"/>
                          <a:cs typeface="Malgun Gothic"/>
                        </a:rPr>
                        <a:t>Adapter와 관측·단위·안전 제약 검증</a:t>
                      </a:r>
                    </a:p>
                  </a:txBody>
                  <a:tcPr marL="91440" marR="91440" marT="45720" marB="45720" anchor="ctr">
                    <a:solidFill>
                      <a:srgbClr val="102638"/>
                    </a:solidFill>
                  </a:tcPr>
                </a:tc>
              </a:tr>
              <a:tr h="578644">
                <a:tc>
                  <a:txBody>
                    <a:bodyPr wrap="square"/>
                    <a:lstStyle/>
                    <a:p>
                      <a:r>
                        <a:rPr sz="2100" b="0">
                          <a:solidFill>
                            <a:srgbClr val="F3F7FA"/>
                          </a:solidFill>
                          <a:latin typeface="Malgun Gothic"/>
                          <a:ea typeface="Malgun Gothic"/>
                          <a:cs typeface="Malgun Gothic"/>
                        </a:rPr>
                        <a:t>분석과 회복</a:t>
                      </a:r>
                    </a:p>
                  </a:txBody>
                  <a:tcPr marL="91440" marR="91440" marT="45720" marB="45720" anchor="ctr">
                    <a:solidFill>
                      <a:srgbClr val="102638"/>
                    </a:solidFill>
                  </a:tcPr>
                </a:tc>
                <a:tc>
                  <a:txBody>
                    <a:bodyPr wrap="square"/>
                    <a:lstStyle/>
                    <a:p>
                      <a:r>
                        <a:rPr sz="2100" b="0">
                          <a:solidFill>
                            <a:srgbClr val="F3F7FA"/>
                          </a:solidFill>
                          <a:latin typeface="Malgun Gothic"/>
                          <a:ea typeface="Malgun Gothic"/>
                          <a:cs typeface="Malgun Gothic"/>
                        </a:rPr>
                        <a:t>판정 근거·중단 기록·새 관측 후 재승인</a:t>
                      </a:r>
                    </a:p>
                  </a:txBody>
                  <a:tcPr marL="91440" marR="91440" marT="45720" marB="45720" anchor="ctr">
                    <a:solidFill>
                      <a:srgbClr val="102638"/>
                    </a:solidFill>
                  </a:tcPr>
                </a:tc>
              </a:tr>
            </a:tbl>
          </a:graphicData>
        </a:graphic>
      </p:graphicFrame>
      <p:sp>
        <p:nvSpPr>
          <p:cNvPr id="5" name="">
            <a:extLst xmlns:a="http://schemas.openxmlformats.org/drawingml/2006/main">
              <a:ext uri="{FF2B5EF4-FFF2-40B4-BE49-F238E27FC236}">
                <a16:creationId xmlns:a16="http://schemas.microsoft.com/office/drawing/2014/main" id="{513F9499-AC62-4339-9B5E-E96471F7AD83}"/>
              </a:ext>
            </a:extLst>
          </p:cNvPr>
          <p:cNvSpPr>
            <a:spLocks xmlns:a="http://schemas.openxmlformats.org/drawingml/2006/main" noGrp="1"/>
          </p:cNvSpPr>
          <p:nvPr/>
        </p:nvSpPr>
        <p:spPr>
          <a:xfrm xmlns:a="http://schemas.openxmlformats.org/drawingml/2006/main">
            <a:off x="609600" y="4581525"/>
            <a:ext cx="266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다음 단계</a:t>
            </a:r>
          </a:p>
        </p:txBody>
      </p:sp>
      <p:sp>
        <p:nvSpPr>
          <p:cNvPr id="6" name="">
            <a:extLst xmlns:a="http://schemas.openxmlformats.org/drawingml/2006/main">
              <a:ext uri="{FF2B5EF4-FFF2-40B4-BE49-F238E27FC236}">
                <a16:creationId xmlns:a16="http://schemas.microsoft.com/office/drawing/2014/main" id="{A065565A-FF7B-4CB6-BAC0-5D3CBD9BE409}"/>
              </a:ext>
            </a:extLst>
          </p:cNvPr>
          <p:cNvSpPr>
            <a:spLocks xmlns:a="http://schemas.openxmlformats.org/drawingml/2006/main" noGrp="1"/>
          </p:cNvSpPr>
          <p:nvPr/>
        </p:nvSpPr>
        <p:spPr>
          <a:xfrm xmlns:a="http://schemas.openxmlformats.org/drawingml/2006/main">
            <a:off x="3581400" y="4581525"/>
            <a:ext cx="8001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3F7FA"/>
                </a:solidFill>
                <a:latin typeface="Malgun Gothic"/>
                <a:ea typeface="Malgun Gothic"/>
                <a:cs typeface="Malgun Gothic"/>
              </a:defRPr>
            </a:defPPr>
          </a:lstStyle>
          <a:p xmlns:a="http://schemas.openxmlformats.org/drawingml/2006/main">
            <a:pPr algn="l">
              <a:buNone/>
              <a:defRPr sz="2175" b="0">
                <a:solidFill>
                  <a:srgbClr val="F3F7FA"/>
                </a:solidFill>
                <a:latin typeface="Malgun Gothic"/>
                <a:ea typeface="Malgun Gothic"/>
                <a:cs typeface="Malgun Gothic"/>
              </a:defRPr>
            </a:pPr>
            <a:r>
              <a:rPr sz="2175" b="0">
                <a:solidFill>
                  <a:srgbClr val="F3F7FA"/>
                </a:solidFill>
                <a:latin typeface="Malgun Gothic"/>
                <a:ea typeface="Malgun Gothic"/>
                <a:cs typeface="Malgun Gothic"/>
              </a:rPr>
              <a:t>Isaac 정상 기준·필터 통합</a:t>
            </a:r>
          </a:p>
          <a:p xmlns:a="http://schemas.openxmlformats.org/drawingml/2006/main">
            <a:pPr algn="l">
              <a:buNone/>
              <a:defRPr sz="2175" b="0">
                <a:solidFill>
                  <a:srgbClr val="F3F7FA"/>
                </a:solidFill>
                <a:latin typeface="Malgun Gothic"/>
                <a:ea typeface="Malgun Gothic"/>
                <a:cs typeface="Malgun Gothic"/>
              </a:defRPr>
            </a:pPr>
            <a:r>
              <a:rPr sz="2175" b="0">
                <a:solidFill>
                  <a:srgbClr val="F3F7FA"/>
                </a:solidFill>
                <a:latin typeface="Malgun Gothic"/>
                <a:ea typeface="Malgun Gothic"/>
                <a:cs typeface="Malgun Gothic"/>
              </a:rPr>
              <a:t>관찰 모드 실증 후 제한된 공정 적용</a:t>
            </a:r>
          </a:p>
        </p:txBody>
      </p:sp>
      <p:sp>
        <p:nvSpPr>
          <p:cNvPr id="7" name="">
            <a:extLst xmlns:a="http://schemas.openxmlformats.org/drawingml/2006/main">
              <a:ext uri="{FF2B5EF4-FFF2-40B4-BE49-F238E27FC236}">
                <a16:creationId xmlns:a16="http://schemas.microsoft.com/office/drawing/2014/main" id="{7A59C820-70EE-4A68-AB75-7F6F7A22B3CA}"/>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고객 인터뷰·오탐률·미탐률·현장 비용 절감·안전 요건 검증을 거쳐야 하는 도입 가설입니다.</a:t>
            </a:r>
          </a:p>
        </p:txBody>
      </p:sp>
    </p:spTree>
    <p:extLst>
      <p:ext uri="{BB962C8B-B14F-4D97-AF65-F5344CB8AC3E}">
        <p14:creationId xmlns:p14="http://schemas.microsoft.com/office/powerpoint/2010/main" val="406096885"/>
      </p:ext>
    </p:extLst>
  </p:cSld>
</p:sld>
</file>

<file path=ppt/slides/slide14.xml><?xml version="1.0" encoding="utf-8"?>
<p:sld xmlns:p="http://schemas.openxmlformats.org/presentationml/2006/main" show="0">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31D5FCA-1096-4940-80B6-BF3620446057}"/>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부록</a:t>
            </a:r>
          </a:p>
        </p:txBody>
      </p:sp>
      <p:sp>
        <p:nvSpPr>
          <p:cNvPr id="2" name="">
            <a:extLst xmlns:a="http://schemas.openxmlformats.org/drawingml/2006/main">
              <a:ext uri="{FF2B5EF4-FFF2-40B4-BE49-F238E27FC236}">
                <a16:creationId xmlns:a16="http://schemas.microsoft.com/office/drawing/2014/main" id="{C82AB102-331B-4D98-AC8D-8F20274C6780}"/>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발표 번호와 원래 데이터 ID</a:t>
            </a:r>
          </a:p>
        </p:txBody>
      </p:sp>
      <p:sp>
        <p:nvSpPr>
          <p:cNvPr id="3" name="">
            <a:extLst xmlns:a="http://schemas.openxmlformats.org/drawingml/2006/main">
              <a:ext uri="{FF2B5EF4-FFF2-40B4-BE49-F238E27FC236}">
                <a16:creationId xmlns:a16="http://schemas.microsoft.com/office/drawing/2014/main" id="{BB0AD74E-895E-4171-8211-D4A327A43FEB}"/>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14</a:t>
            </a:r>
          </a:p>
        </p:txBody>
      </p:sp>
      <p:graphicFrame>
        <p:nvGraphicFramePr>
          <p:cNvPr id="4" name="">
            <a:extLst xmlns:a="http://schemas.openxmlformats.org/drawingml/2006/main">
              <a:ext uri="{FF2B5EF4-FFF2-40B4-BE49-F238E27FC236}">
                <a16:creationId xmlns:a16="http://schemas.microsoft.com/office/drawing/2014/main" id="{AF8C079F-C0A4-444C-9AFC-8E474C22F4F3}"/>
              </a:ext>
            </a:extLst>
          </p:cNvPr>
          <p:cNvGraphicFramePr/>
          <p:nvPr/>
        </p:nvGraphicFramePr>
        <p:xfrm>
          <a:off xmlns:a="http://schemas.openxmlformats.org/drawingml/2006/main" x="609600" y="1790700"/>
          <a:ext xmlns:a="http://schemas.openxmlformats.org/drawingml/2006/main" cx="10972800" cy="3733800"/>
        </p:xfrm>
        <a:graphic xmlns:a="http://schemas.openxmlformats.org/drawingml/2006/main">
          <a:graphicData uri="http://schemas.openxmlformats.org/drawingml/2006/table">
            <a:tbl>
              <a:tblPr/>
              <a:tblGrid>
                <a:gridCol w="952500"/>
                <a:gridCol w="1524000"/>
                <a:gridCol w="8496300"/>
              </a:tblGrid>
              <a:tr h="466725">
                <a:tc>
                  <a:txBody>
                    <a:bodyPr wrap="square"/>
                    <a:lstStyle/>
                    <a:p>
                      <a:r>
                        <a:rPr sz="1800" b="1">
                          <a:solidFill>
                            <a:srgbClr val="5DE0C0"/>
                          </a:solidFill>
                          <a:latin typeface="Malgun Gothic"/>
                          <a:ea typeface="Malgun Gothic"/>
                          <a:cs typeface="Malgun Gothic"/>
                        </a:rPr>
                        <a:t>번호</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원래 ID</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위험 행동</a:t>
                      </a:r>
                    </a:p>
                  </a:txBody>
                  <a:tcPr marL="91440" marR="91440" marT="45720" marB="45720" anchor="ctr">
                    <a:solidFill>
                      <a:srgbClr val="173C4C"/>
                    </a:solidFill>
                  </a:tcPr>
                </a:tc>
              </a:tr>
              <a:tr h="466725">
                <a:tc>
                  <a:txBody>
                    <a:bodyPr wrap="square"/>
                    <a:lstStyle/>
                    <a:p>
                      <a:r>
                        <a:rPr sz="1800" b="0">
                          <a:solidFill>
                            <a:srgbClr val="F3F7FA"/>
                          </a:solidFill>
                          <a:latin typeface="Malgun Gothic"/>
                          <a:ea typeface="Malgun Gothic"/>
                          <a:cs typeface="Malgun Gothic"/>
                        </a:rPr>
                        <a:t>1</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SA02</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사람을 잡거나 끌어당김</a:t>
                      </a:r>
                    </a:p>
                  </a:txBody>
                  <a:tcPr marL="91440" marR="91440" marT="45720" marB="45720" anchor="ctr">
                    <a:solidFill>
                      <a:srgbClr val="102638"/>
                    </a:solidFill>
                  </a:tcPr>
                </a:tc>
              </a:tr>
              <a:tr h="466725">
                <a:tc>
                  <a:txBody>
                    <a:bodyPr wrap="square"/>
                    <a:lstStyle/>
                    <a:p>
                      <a:r>
                        <a:rPr sz="1800" b="0">
                          <a:solidFill>
                            <a:srgbClr val="F3F7FA"/>
                          </a:solidFill>
                          <a:latin typeface="Malgun Gothic"/>
                          <a:ea typeface="Malgun Gothic"/>
                          <a:cs typeface="Malgun Gothic"/>
                        </a:rPr>
                        <a:t>2</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SA04</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칼을 휘두르거나 밀어냄</a:t>
                      </a:r>
                    </a:p>
                  </a:txBody>
                  <a:tcPr marL="91440" marR="91440" marT="45720" marB="45720" anchor="ctr">
                    <a:solidFill>
                      <a:srgbClr val="102638"/>
                    </a:solidFill>
                  </a:tcPr>
                </a:tc>
              </a:tr>
              <a:tr h="466725">
                <a:tc>
                  <a:txBody>
                    <a:bodyPr wrap="square"/>
                    <a:lstStyle/>
                    <a:p>
                      <a:r>
                        <a:rPr sz="1800" b="0">
                          <a:solidFill>
                            <a:srgbClr val="F3F7FA"/>
                          </a:solidFill>
                          <a:latin typeface="Malgun Gothic"/>
                          <a:ea typeface="Malgun Gothic"/>
                          <a:cs typeface="Malgun Gothic"/>
                        </a:rPr>
                        <a:t>3</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SA08</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스패너로 다른 위험 물체 활성화</a:t>
                      </a:r>
                    </a:p>
                  </a:txBody>
                  <a:tcPr marL="91440" marR="91440" marT="45720" marB="45720" anchor="ctr">
                    <a:solidFill>
                      <a:srgbClr val="102638"/>
                    </a:solidFill>
                  </a:tcPr>
                </a:tc>
              </a:tr>
              <a:tr h="466725">
                <a:tc>
                  <a:txBody>
                    <a:bodyPr wrap="square"/>
                    <a:lstStyle/>
                    <a:p>
                      <a:r>
                        <a:rPr sz="1800" b="0">
                          <a:solidFill>
                            <a:srgbClr val="F3F7FA"/>
                          </a:solidFill>
                          <a:latin typeface="Malgun Gothic"/>
                          <a:ea typeface="Malgun Gothic"/>
                          <a:cs typeface="Malgun Gothic"/>
                        </a:rPr>
                        <a:t>4</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SA13</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공을 과도하게 압착하거나 튀어나가게 함</a:t>
                      </a:r>
                    </a:p>
                  </a:txBody>
                  <a:tcPr marL="91440" marR="91440" marT="45720" marB="45720" anchor="ctr">
                    <a:solidFill>
                      <a:srgbClr val="102638"/>
                    </a:solidFill>
                  </a:tcPr>
                </a:tc>
              </a:tr>
              <a:tr h="466725">
                <a:tc>
                  <a:txBody>
                    <a:bodyPr wrap="square"/>
                    <a:lstStyle/>
                    <a:p>
                      <a:r>
                        <a:rPr sz="1800" b="0">
                          <a:solidFill>
                            <a:srgbClr val="F3F7FA"/>
                          </a:solidFill>
                          <a:latin typeface="Malgun Gothic"/>
                          <a:ea typeface="Malgun Gothic"/>
                          <a:cs typeface="Malgun Gothic"/>
                        </a:rPr>
                        <a:t>5</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SA14</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운반 중 공을 놓쳐 떨어뜨림</a:t>
                      </a:r>
                    </a:p>
                  </a:txBody>
                  <a:tcPr marL="91440" marR="91440" marT="45720" marB="45720" anchor="ctr">
                    <a:solidFill>
                      <a:srgbClr val="102638"/>
                    </a:solidFill>
                  </a:tcPr>
                </a:tc>
              </a:tr>
              <a:tr h="466725">
                <a:tc>
                  <a:txBody>
                    <a:bodyPr wrap="square"/>
                    <a:lstStyle/>
                    <a:p>
                      <a:r>
                        <a:rPr sz="1800" b="0">
                          <a:solidFill>
                            <a:srgbClr val="F3F7FA"/>
                          </a:solidFill>
                          <a:latin typeface="Malgun Gothic"/>
                          <a:ea typeface="Malgun Gothic"/>
                          <a:cs typeface="Malgun Gothic"/>
                        </a:rPr>
                        <a:t>6</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SA16</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공을 든 채 장시간 동결</a:t>
                      </a:r>
                    </a:p>
                  </a:txBody>
                  <a:tcPr marL="91440" marR="91440" marT="45720" marB="45720" anchor="ctr">
                    <a:solidFill>
                      <a:srgbClr val="102638"/>
                    </a:solidFill>
                  </a:tcPr>
                </a:tc>
              </a:tr>
              <a:tr h="466725">
                <a:tc>
                  <a:txBody>
                    <a:bodyPr wrap="square"/>
                    <a:lstStyle/>
                    <a:p>
                      <a:r>
                        <a:rPr sz="1800" b="0">
                          <a:solidFill>
                            <a:srgbClr val="F3F7FA"/>
                          </a:solidFill>
                          <a:latin typeface="Malgun Gothic"/>
                          <a:ea typeface="Malgun Gothic"/>
                          <a:cs typeface="Malgun Gothic"/>
                        </a:rPr>
                        <a:t>7</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SA17</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정지 후 이동 또는 미검증·재사용 허가로 실행</a:t>
                      </a:r>
                    </a:p>
                  </a:txBody>
                  <a:tcPr marL="91440" marR="91440" marT="45720" marB="45720" anchor="ctr">
                    <a:solidFill>
                      <a:srgbClr val="102638"/>
                    </a:solidFill>
                  </a:tcPr>
                </a:tc>
              </a:tr>
            </a:tbl>
          </a:graphicData>
        </a:graphic>
      </p:graphicFrame>
    </p:spTree>
    <p:extLst>
      <p:ext uri="{BB962C8B-B14F-4D97-AF65-F5344CB8AC3E}">
        <p14:creationId xmlns:p14="http://schemas.microsoft.com/office/powerpoint/2010/main" val="464582454"/>
      </p:ext>
    </p:extLst>
  </p:cSld>
</p:sld>
</file>

<file path=ppt/slides/slide15.xml><?xml version="1.0" encoding="utf-8"?>
<p:sld xmlns:p="http://schemas.openxmlformats.org/presentationml/2006/main" show="0">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44488ED-BD6F-42A0-990F-127589059E8F}"/>
              </a:ext>
            </a:extLst>
          </p:cNvPr>
          <p:cNvSpPr>
            <a:spLocks xmlns:a="http://schemas.openxmlformats.org/drawingml/2006/main" noGrp="1"/>
          </p:cNvSpPr>
          <p:nvPr/>
        </p:nvSpPr>
        <p:spPr>
          <a:xfrm xmlns:a="http://schemas.openxmlformats.org/drawingml/2006/main">
            <a:off x="609600" y="3619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부록 / 평가 범위</a:t>
            </a:r>
          </a:p>
        </p:txBody>
      </p:sp>
      <p:sp>
        <p:nvSpPr>
          <p:cNvPr id="2" name="">
            <a:extLst xmlns:a="http://schemas.openxmlformats.org/drawingml/2006/main">
              <a:ext uri="{FF2B5EF4-FFF2-40B4-BE49-F238E27FC236}">
                <a16:creationId xmlns:a16="http://schemas.microsoft.com/office/drawing/2014/main" id="{A3BE1ED5-71BC-4644-B107-A5EC5D833BC2}"/>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분포를 해석하는 기준</a:t>
            </a:r>
          </a:p>
        </p:txBody>
      </p:sp>
      <p:sp>
        <p:nvSpPr>
          <p:cNvPr id="3" name="">
            <a:extLst xmlns:a="http://schemas.openxmlformats.org/drawingml/2006/main">
              <a:ext uri="{FF2B5EF4-FFF2-40B4-BE49-F238E27FC236}">
                <a16:creationId xmlns:a16="http://schemas.microsoft.com/office/drawing/2014/main" id="{10FD7D45-19A5-4258-8AA1-52E91358DAB2}"/>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15</a:t>
            </a:r>
          </a:p>
        </p:txBody>
      </p:sp>
      <p:graphicFrame>
        <p:nvGraphicFramePr>
          <p:cNvPr id="4" name="">
            <a:extLst xmlns:a="http://schemas.openxmlformats.org/drawingml/2006/main">
              <a:ext uri="{FF2B5EF4-FFF2-40B4-BE49-F238E27FC236}">
                <a16:creationId xmlns:a16="http://schemas.microsoft.com/office/drawing/2014/main" id="{E1328B64-692D-4D59-BA79-46372979AB12}"/>
              </a:ext>
            </a:extLst>
          </p:cNvPr>
          <p:cNvGraphicFramePr/>
          <p:nvPr/>
        </p:nvGraphicFramePr>
        <p:xfrm>
          <a:off xmlns:a="http://schemas.openxmlformats.org/drawingml/2006/main" x="609600" y="1981200"/>
          <a:ext xmlns:a="http://schemas.openxmlformats.org/drawingml/2006/main" cx="10972800" cy="3409950"/>
        </p:xfrm>
        <a:graphic xmlns:a="http://schemas.openxmlformats.org/drawingml/2006/main">
          <a:graphicData uri="http://schemas.openxmlformats.org/drawingml/2006/table">
            <a:tbl>
              <a:tblPr/>
              <a:tblGrid>
                <a:gridCol w="2667000"/>
                <a:gridCol w="8305800"/>
              </a:tblGrid>
              <a:tr h="568325">
                <a:tc>
                  <a:txBody>
                    <a:bodyPr wrap="square"/>
                    <a:lstStyle/>
                    <a:p>
                      <a:r>
                        <a:rPr sz="1875" b="1">
                          <a:solidFill>
                            <a:srgbClr val="5DE0C0"/>
                          </a:solidFill>
                          <a:latin typeface="Malgun Gothic"/>
                          <a:ea typeface="Malgun Gothic"/>
                          <a:cs typeface="Malgun Gothic"/>
                        </a:rPr>
                        <a:t>항목</a:t>
                      </a:r>
                    </a:p>
                  </a:txBody>
                  <a:tcPr marL="91440" marR="91440" marT="45720" marB="45720" anchor="ctr">
                    <a:solidFill>
                      <a:srgbClr val="173C4C"/>
                    </a:solidFill>
                  </a:tcPr>
                </a:tc>
                <a:tc>
                  <a:txBody>
                    <a:bodyPr wrap="square"/>
                    <a:lstStyle/>
                    <a:p>
                      <a:r>
                        <a:rPr sz="1875" b="1">
                          <a:solidFill>
                            <a:srgbClr val="5DE0C0"/>
                          </a:solidFill>
                          <a:latin typeface="Malgun Gothic"/>
                          <a:ea typeface="Malgun Gothic"/>
                          <a:cs typeface="Malgun Gothic"/>
                        </a:rPr>
                        <a:t>확인 범위</a:t>
                      </a:r>
                    </a:p>
                  </a:txBody>
                  <a:tcPr marL="91440" marR="91440" marT="45720" marB="45720" anchor="ctr">
                    <a:solidFill>
                      <a:srgbClr val="173C4C"/>
                    </a:solidFill>
                  </a:tcPr>
                </a:tc>
              </a:tr>
              <a:tr h="568325">
                <a:tc>
                  <a:txBody>
                    <a:bodyPr wrap="square"/>
                    <a:lstStyle/>
                    <a:p>
                      <a:r>
                        <a:rPr sz="1875" b="0">
                          <a:solidFill>
                            <a:srgbClr val="F3F7FA"/>
                          </a:solidFill>
                          <a:latin typeface="Malgun Gothic"/>
                          <a:ea typeface="Malgun Gothic"/>
                          <a:cs typeface="Malgun Gothic"/>
                        </a:rPr>
                        <a:t>표본</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텍스트 공격 라벨 270건 / 이미지 64건</a:t>
                      </a:r>
                    </a:p>
                  </a:txBody>
                  <a:tcPr marL="91440" marR="91440" marT="45720" marB="45720" anchor="ctr">
                    <a:solidFill>
                      <a:srgbClr val="102638"/>
                    </a:solidFill>
                  </a:tcPr>
                </a:tc>
              </a:tr>
              <a:tr h="568325">
                <a:tc>
                  <a:txBody>
                    <a:bodyPr wrap="square"/>
                    <a:lstStyle/>
                    <a:p>
                      <a:r>
                        <a:rPr sz="1875" b="0">
                          <a:solidFill>
                            <a:srgbClr val="F3F7FA"/>
                          </a:solidFill>
                          <a:latin typeface="Malgun Gothic"/>
                          <a:ea typeface="Malgun Gothic"/>
                          <a:cs typeface="Malgun Gothic"/>
                        </a:rPr>
                        <a:t>차단·보류·통과</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서로 분리해 집계, 보류를 차단 성공으로 세지 않음</a:t>
                      </a:r>
                    </a:p>
                  </a:txBody>
                  <a:tcPr marL="91440" marR="91440" marT="45720" marB="45720" anchor="ctr">
                    <a:solidFill>
                      <a:srgbClr val="102638"/>
                    </a:solidFill>
                  </a:tcPr>
                </a:tc>
              </a:tr>
              <a:tr h="568325">
                <a:tc>
                  <a:txBody>
                    <a:bodyPr wrap="square"/>
                    <a:lstStyle/>
                    <a:p>
                      <a:r>
                        <a:rPr sz="1875" b="0">
                          <a:solidFill>
                            <a:srgbClr val="F3F7FA"/>
                          </a:solidFill>
                          <a:latin typeface="Malgun Gothic"/>
                          <a:ea typeface="Malgun Gothic"/>
                          <a:cs typeface="Malgun Gothic"/>
                        </a:rPr>
                        <a:t>정확도·오탐률</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정상 대조·이미지 정답이 없어 산출하지 않음</a:t>
                      </a:r>
                    </a:p>
                  </a:txBody>
                  <a:tcPr marL="91440" marR="91440" marT="45720" marB="45720" anchor="ctr">
                    <a:solidFill>
                      <a:srgbClr val="102638"/>
                    </a:solidFill>
                  </a:tcPr>
                </a:tc>
              </a:tr>
              <a:tr h="568325">
                <a:tc>
                  <a:txBody>
                    <a:bodyPr wrap="square"/>
                    <a:lstStyle/>
                    <a:p>
                      <a:r>
                        <a:rPr sz="1875" b="0">
                          <a:solidFill>
                            <a:srgbClr val="F3F7FA"/>
                          </a:solidFill>
                          <a:latin typeface="Malgun Gothic"/>
                          <a:ea typeface="Malgun Gothic"/>
                          <a:cs typeface="Malgun Gothic"/>
                        </a:rPr>
                        <a:t>실행 결과</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로봇 명령 0건, 물리 공격 성공률 미측정</a:t>
                      </a:r>
                    </a:p>
                  </a:txBody>
                  <a:tcPr marL="91440" marR="91440" marT="45720" marB="45720" anchor="ctr">
                    <a:solidFill>
                      <a:srgbClr val="102638"/>
                    </a:solidFill>
                  </a:tcPr>
                </a:tc>
              </a:tr>
              <a:tr h="568325">
                <a:tc>
                  <a:txBody>
                    <a:bodyPr wrap="square"/>
                    <a:lstStyle/>
                    <a:p>
                      <a:r>
                        <a:rPr sz="1875" b="0">
                          <a:solidFill>
                            <a:srgbClr val="F3F7FA"/>
                          </a:solidFill>
                          <a:latin typeface="Malgun Gothic"/>
                          <a:ea typeface="Malgun Gothic"/>
                          <a:cs typeface="Malgun Gothic"/>
                        </a:rPr>
                        <a:t>선정 위험 1~7</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현재 코퍼스와 유형이 달라 별도 검증 필요</a:t>
                      </a:r>
                    </a:p>
                  </a:txBody>
                  <a:tcPr marL="91440" marR="91440" marT="45720" marB="45720" anchor="ctr">
                    <a:solidFill>
                      <a:srgbClr val="102638"/>
                    </a:solidFill>
                  </a:tcPr>
                </a:tc>
              </a:tr>
            </a:tbl>
          </a:graphicData>
        </a:graphic>
      </p:graphicFrame>
      <p:sp>
        <p:nvSpPr>
          <p:cNvPr id="5" name="">
            <a:extLst xmlns:a="http://schemas.openxmlformats.org/drawingml/2006/main">
              <a:ext uri="{FF2B5EF4-FFF2-40B4-BE49-F238E27FC236}">
                <a16:creationId xmlns:a16="http://schemas.microsoft.com/office/drawing/2014/main" id="{9526E6C8-C455-4E3D-A5E6-E93EA3AA269F}"/>
              </a:ext>
            </a:extLst>
          </p:cNvPr>
          <p:cNvSpPr>
            <a:spLocks xmlns:a="http://schemas.openxmlformats.org/drawingml/2006/main" noGrp="1"/>
          </p:cNvSpPr>
          <p:nvPr/>
        </p:nvSpPr>
        <p:spPr>
          <a:xfrm xmlns:a="http://schemas.openxmlformats.org/drawingml/2006/main">
            <a:off x="609600" y="5734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현재 수치는 입력 선별 결과입니다. 동일 사례의 전체 필터 적용 전후 비교는 후속 검증입니다.</a:t>
            </a:r>
          </a:p>
        </p:txBody>
      </p:sp>
    </p:spTree>
    <p:extLst>
      <p:ext uri="{BB962C8B-B14F-4D97-AF65-F5344CB8AC3E}">
        <p14:creationId xmlns:p14="http://schemas.microsoft.com/office/powerpoint/2010/main" val="566102852"/>
      </p:ext>
    </p:extLst>
  </p:cSld>
</p:sld>
</file>

<file path=ppt/slides/slide16.xml><?xml version="1.0" encoding="utf-8"?>
<p:sld xmlns:p="http://schemas.openxmlformats.org/presentationml/2006/main" show="0">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EDFEB87-07DF-49C7-B346-3B4732DADB0E}"/>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부록</a:t>
            </a:r>
          </a:p>
        </p:txBody>
      </p:sp>
      <p:sp>
        <p:nvSpPr>
          <p:cNvPr id="2" name="">
            <a:extLst xmlns:a="http://schemas.openxmlformats.org/drawingml/2006/main">
              <a:ext uri="{FF2B5EF4-FFF2-40B4-BE49-F238E27FC236}">
                <a16:creationId xmlns:a16="http://schemas.microsoft.com/office/drawing/2014/main" id="{BD996D9F-E4F6-4726-B8EF-F2EEB7CFCD7D}"/>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대회 심사와 제출 자료</a:t>
            </a:r>
          </a:p>
        </p:txBody>
      </p:sp>
      <p:sp>
        <p:nvSpPr>
          <p:cNvPr id="3" name="">
            <a:extLst xmlns:a="http://schemas.openxmlformats.org/drawingml/2006/main">
              <a:ext uri="{FF2B5EF4-FFF2-40B4-BE49-F238E27FC236}">
                <a16:creationId xmlns:a16="http://schemas.microsoft.com/office/drawing/2014/main" id="{A700EDE6-A1EA-4B74-BD26-80D0487B425E}"/>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16</a:t>
            </a:r>
          </a:p>
        </p:txBody>
      </p:sp>
      <p:sp>
        <p:nvSpPr>
          <p:cNvPr id="4" name="">
            <a:extLst xmlns:a="http://schemas.openxmlformats.org/drawingml/2006/main">
              <a:ext uri="{FF2B5EF4-FFF2-40B4-BE49-F238E27FC236}">
                <a16:creationId xmlns:a16="http://schemas.microsoft.com/office/drawing/2014/main" id="{7EE52DCB-8A24-4642-B5CD-BFD5150A58A5}"/>
              </a:ext>
            </a:extLst>
          </p:cNvPr>
          <p:cNvSpPr>
            <a:spLocks xmlns:a="http://schemas.openxmlformats.org/drawingml/2006/main" noGrp="1"/>
          </p:cNvSpPr>
          <p:nvPr/>
        </p:nvSpPr>
        <p:spPr>
          <a:xfrm xmlns:a="http://schemas.openxmlformats.org/drawingml/2006/main">
            <a:off x="609600" y="188595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심사</a:t>
            </a:r>
          </a:p>
        </p:txBody>
      </p:sp>
      <p:sp>
        <p:nvSpPr>
          <p:cNvPr id="5" name="">
            <a:extLst xmlns:a="http://schemas.openxmlformats.org/drawingml/2006/main">
              <a:ext uri="{FF2B5EF4-FFF2-40B4-BE49-F238E27FC236}">
                <a16:creationId xmlns:a16="http://schemas.microsoft.com/office/drawing/2014/main" id="{013E8C5A-DAC8-46D5-BB5F-B2DF647330D3}"/>
              </a:ext>
            </a:extLst>
          </p:cNvPr>
          <p:cNvSpPr>
            <a:spLocks xmlns:a="http://schemas.openxmlformats.org/drawingml/2006/main" noGrp="1"/>
          </p:cNvSpPr>
          <p:nvPr/>
        </p:nvSpPr>
        <p:spPr>
          <a:xfrm xmlns:a="http://schemas.openxmlformats.org/drawingml/2006/main">
            <a:off x="4114800" y="1885950"/>
            <a:ext cx="7467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7FA"/>
                </a:solidFill>
                <a:latin typeface="Malgun Gothic"/>
                <a:ea typeface="Malgun Gothic"/>
                <a:cs typeface="Malgun Gothic"/>
              </a:defRPr>
            </a:defPPr>
          </a:lstStyle>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문제·AI 판단·프로토타입·검증·사업성·Codex 과정</a:t>
            </a:r>
          </a:p>
        </p:txBody>
      </p:sp>
      <p:sp>
        <p:nvSpPr>
          <p:cNvPr id="6" name="">
            <a:extLst xmlns:a="http://schemas.openxmlformats.org/drawingml/2006/main">
              <a:ext uri="{FF2B5EF4-FFF2-40B4-BE49-F238E27FC236}">
                <a16:creationId xmlns:a16="http://schemas.microsoft.com/office/drawing/2014/main" id="{950A71FC-317E-4C6C-B9FA-FE118E074762}"/>
              </a:ext>
            </a:extLst>
          </p:cNvPr>
          <p:cNvSpPr>
            <a:spLocks xmlns:a="http://schemas.openxmlformats.org/drawingml/2006/main" noGrp="1"/>
          </p:cNvSpPr>
          <p:nvPr/>
        </p:nvSpPr>
        <p:spPr>
          <a:xfrm xmlns:a="http://schemas.openxmlformats.org/drawingml/2006/main">
            <a:off x="609600" y="307657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시간</a:t>
            </a:r>
          </a:p>
        </p:txBody>
      </p:sp>
      <p:sp>
        <p:nvSpPr>
          <p:cNvPr id="7" name="">
            <a:extLst xmlns:a="http://schemas.openxmlformats.org/drawingml/2006/main">
              <a:ext uri="{FF2B5EF4-FFF2-40B4-BE49-F238E27FC236}">
                <a16:creationId xmlns:a16="http://schemas.microsoft.com/office/drawing/2014/main" id="{CE870525-C299-4394-92B6-088B54AF0878}"/>
              </a:ext>
            </a:extLst>
          </p:cNvPr>
          <p:cNvSpPr>
            <a:spLocks xmlns:a="http://schemas.openxmlformats.org/drawingml/2006/main" noGrp="1"/>
          </p:cNvSpPr>
          <p:nvPr/>
        </p:nvSpPr>
        <p:spPr>
          <a:xfrm xmlns:a="http://schemas.openxmlformats.org/drawingml/2006/main">
            <a:off x="4114800" y="3076575"/>
            <a:ext cx="7467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7FA"/>
                </a:solidFill>
                <a:latin typeface="Malgun Gothic"/>
                <a:ea typeface="Malgun Gothic"/>
                <a:cs typeface="Malgun Gothic"/>
              </a:defRPr>
            </a:defPPr>
          </a:lstStyle>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예선 3분40초 + 여유20초</a:t>
            </a:r>
          </a:p>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결선 8분20초 + Q&amp;A·전환1분40초</a:t>
            </a:r>
          </a:p>
        </p:txBody>
      </p:sp>
      <p:sp>
        <p:nvSpPr>
          <p:cNvPr id="8" name="">
            <a:extLst xmlns:a="http://schemas.openxmlformats.org/drawingml/2006/main">
              <a:ext uri="{FF2B5EF4-FFF2-40B4-BE49-F238E27FC236}">
                <a16:creationId xmlns:a16="http://schemas.microsoft.com/office/drawing/2014/main" id="{6E580794-B40C-4A15-9C59-0180836E603F}"/>
              </a:ext>
            </a:extLst>
          </p:cNvPr>
          <p:cNvSpPr>
            <a:spLocks xmlns:a="http://schemas.openxmlformats.org/drawingml/2006/main" noGrp="1"/>
          </p:cNvSpPr>
          <p:nvPr/>
        </p:nvSpPr>
        <p:spPr>
          <a:xfrm xmlns:a="http://schemas.openxmlformats.org/drawingml/2006/main">
            <a:off x="609600" y="426720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제출</a:t>
            </a:r>
          </a:p>
        </p:txBody>
      </p:sp>
      <p:sp>
        <p:nvSpPr>
          <p:cNvPr id="9" name="">
            <a:extLst xmlns:a="http://schemas.openxmlformats.org/drawingml/2006/main">
              <a:ext uri="{FF2B5EF4-FFF2-40B4-BE49-F238E27FC236}">
                <a16:creationId xmlns:a16="http://schemas.microsoft.com/office/drawing/2014/main" id="{EE52AF9E-6475-435F-9F0B-DF766A0C0D55}"/>
              </a:ext>
            </a:extLst>
          </p:cNvPr>
          <p:cNvSpPr>
            <a:spLocks xmlns:a="http://schemas.openxmlformats.org/drawingml/2006/main" noGrp="1"/>
          </p:cNvSpPr>
          <p:nvPr/>
        </p:nvSpPr>
        <p:spPr>
          <a:xfrm xmlns:a="http://schemas.openxmlformats.org/drawingml/2006/main">
            <a:off x="4114800" y="4267200"/>
            <a:ext cx="7467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7FA"/>
                </a:solidFill>
                <a:latin typeface="Malgun Gothic"/>
                <a:ea typeface="Malgun Gothic"/>
                <a:cs typeface="Malgun Gothic"/>
              </a:defRPr>
            </a:defPPr>
          </a:lstStyle>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저장소·최종 SHA·Codex 기록·PDF·데모 URL</a:t>
            </a:r>
          </a:p>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사전 자산과 당일 작업 구분, 17:00 KST 마감</a:t>
            </a:r>
          </a:p>
        </p:txBody>
      </p:sp>
    </p:spTree>
    <p:extLst>
      <p:ext uri="{BB962C8B-B14F-4D97-AF65-F5344CB8AC3E}">
        <p14:creationId xmlns:p14="http://schemas.microsoft.com/office/powerpoint/2010/main" val="3336909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2026-10-09T07:40:16.2090000Z</dcterms:created>
  <dcterms:modified xsi:type="dcterms:W3CDTF">2026-10-09T07:40:16.2090000Z</dcterms:modified>
</coreProperties>
</file>