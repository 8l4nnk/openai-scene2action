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2dddb447f16f4162" /><Relationship Type="http://schemas.openxmlformats.org/officeDocument/2006/relationships/extended-properties" Target="/docProps/app.xml" Id="R5b45e0a4434e4fc7" /><Relationship Type="http://schemas.openxmlformats.org/officeDocument/2006/relationships/officeDocument" Target="/ppt/presentation.xml" Id="Rf0be525c2e26474b" /></Relationships>
</file>

<file path=ppt/presentation.xml><?xml version="1.0" encoding="utf-8"?>
<p:presentation xmlns:p="http://schemas.openxmlformats.org/presentationml/2006/main">
  <p:sldMasterIdLst>
    <p:sldMasterId xmlns:r="http://schemas.openxmlformats.org/officeDocument/2006/relationships" id="2147483648" r:id="R02e433617d08457c"/>
  </p:sldMasterIdLst>
  <p:notesMasterIdLst>
    <p:notesMasterId xmlns:r="http://schemas.openxmlformats.org/officeDocument/2006/relationships" r:id="R455c78bf2df044f1"/>
  </p:notesMasterIdLst>
  <p:sldIdLst>
    <p:sldId xmlns:r="http://schemas.openxmlformats.org/officeDocument/2006/relationships" id="256" r:id="Rd3633f4f824a4a12"/>
    <p:sldId xmlns:r="http://schemas.openxmlformats.org/officeDocument/2006/relationships" id="257" r:id="R8718c0a5eb7a4226"/>
    <p:sldId xmlns:r="http://schemas.openxmlformats.org/officeDocument/2006/relationships" id="258" r:id="R2da57a065c1f4e51"/>
    <p:sldId xmlns:r="http://schemas.openxmlformats.org/officeDocument/2006/relationships" id="259" r:id="Rc886d21e977b4090"/>
    <p:sldId xmlns:r="http://schemas.openxmlformats.org/officeDocument/2006/relationships" id="260" r:id="R998d7aa6d09c47d0"/>
    <p:sldId xmlns:r="http://schemas.openxmlformats.org/officeDocument/2006/relationships" id="261" r:id="R3e19fa4cca194dea"/>
    <p:sldId xmlns:r="http://schemas.openxmlformats.org/officeDocument/2006/relationships" id="262" r:id="Rfcb28b1adf3d431e"/>
    <p:sldId xmlns:r="http://schemas.openxmlformats.org/officeDocument/2006/relationships" id="263" r:id="Rc30244504b064660"/>
    <p:sldId xmlns:r="http://schemas.openxmlformats.org/officeDocument/2006/relationships" id="264" r:id="R3a9a2e0b901e45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29cf6e54fd4b64" /><Relationship Type="http://schemas.openxmlformats.org/officeDocument/2006/relationships/slideMaster" Target="/ppt/slideMasters/slideMaster1.xml" Id="R02e433617d08457c" /><Relationship Type="http://schemas.openxmlformats.org/officeDocument/2006/relationships/notesMaster" Target="/ppt/notesMasters/notesMaster1.xml" Id="R455c78bf2df044f1" /><Relationship Type="http://schemas.openxmlformats.org/officeDocument/2006/relationships/presProps" Target="/ppt/presProps.xml" Id="R126263f1173d4755" /><Relationship Type="http://schemas.openxmlformats.org/officeDocument/2006/relationships/tableStyles" Target="/ppt/tableStyles.xml" Id="Ra0eae60f34204a8c" /><Relationship Type="http://schemas.openxmlformats.org/officeDocument/2006/relationships/slide" Target="/ppt/slides/slide1.xml" Id="Rd3633f4f824a4a12" /><Relationship Type="http://schemas.openxmlformats.org/officeDocument/2006/relationships/slide" Target="/ppt/slides/slide2.xml" Id="R8718c0a5eb7a4226" /><Relationship Type="http://schemas.openxmlformats.org/officeDocument/2006/relationships/slide" Target="/ppt/slides/slide3.xml" Id="R2da57a065c1f4e51" /><Relationship Type="http://schemas.openxmlformats.org/officeDocument/2006/relationships/slide" Target="/ppt/slides/slide4.xml" Id="Rc886d21e977b4090" /><Relationship Type="http://schemas.openxmlformats.org/officeDocument/2006/relationships/slide" Target="/ppt/slides/slide5.xml" Id="R998d7aa6d09c47d0" /><Relationship Type="http://schemas.openxmlformats.org/officeDocument/2006/relationships/slide" Target="/ppt/slides/slide6.xml" Id="R3e19fa4cca194dea" /><Relationship Type="http://schemas.openxmlformats.org/officeDocument/2006/relationships/slide" Target="/ppt/slides/slide7.xml" Id="Rfcb28b1adf3d431e" /><Relationship Type="http://schemas.openxmlformats.org/officeDocument/2006/relationships/slide" Target="/ppt/slides/slide8.xml" Id="Rc30244504b064660" /><Relationship Type="http://schemas.openxmlformats.org/officeDocument/2006/relationships/slide" Target="/ppt/slides/slide9.xml" Id="R3a9a2e0b901e45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2499947b834e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a20b95a86e4ec0" /><Relationship Type="http://schemas.openxmlformats.org/officeDocument/2006/relationships/notesMaster" Target="/ppt/notesMasters/notesMaster1.xml" Id="Rfb0119057b5a4b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7ffd3144d442da" /><Relationship Type="http://schemas.openxmlformats.org/officeDocument/2006/relationships/notesMaster" Target="/ppt/notesMasters/notesMaster1.xml" Id="R94068678ecae40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9cb28b7d6b4ecd" /><Relationship Type="http://schemas.openxmlformats.org/officeDocument/2006/relationships/notesMaster" Target="/ppt/notesMasters/notesMaster1.xml" Id="R375f3e2faaf34b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ce7940b7394d39" /><Relationship Type="http://schemas.openxmlformats.org/officeDocument/2006/relationships/notesMaster" Target="/ppt/notesMasters/notesMaster1.xml" Id="R5ca5ef865e034f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006ab743794fec" /><Relationship Type="http://schemas.openxmlformats.org/officeDocument/2006/relationships/notesMaster" Target="/ppt/notesMasters/notesMaster1.xml" Id="R3c194774a78848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196fb686d54e46" /><Relationship Type="http://schemas.openxmlformats.org/officeDocument/2006/relationships/notesMaster" Target="/ppt/notesMasters/notesMaster1.xml" Id="Rfb5a1704e57541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9a0cc214754c4c" /><Relationship Type="http://schemas.openxmlformats.org/officeDocument/2006/relationships/notesMaster" Target="/ppt/notesMasters/notesMaster1.xml" Id="Rbbbc3b6f3c5d40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34dd44c286499b" /><Relationship Type="http://schemas.openxmlformats.org/officeDocument/2006/relationships/notesMaster" Target="/ppt/notesMasters/notesMaster1.xml" Id="R96f997bf553543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cfaad7d16d4be8" /><Relationship Type="http://schemas.openxmlformats.org/officeDocument/2006/relationships/notesMaster" Target="/ppt/notesMasters/notesMaster1.xml" Id="Rc8d9a73dfe3c49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저희 또봇의 K-Scene2Action은 AI가 만든 로봇 작업 계획을 정상 작업 계약과 현장 제약에 대조하고, 실행 여부와 판단 근거를 제공하는 검증 계층입니다. 로봇 공정을 도입하는 공장을 고객으로 생각했습니다.</a:t>
            </a:r>
          </a:p>
          <a:p xmlns:a="http://schemas.openxmlformats.org/drawingml/2006/main">
            <a:r>
              <a:t/>
            </a:r>
          </a:p>
          <a:p xmlns:a="http://schemas.openxmlformats.org/drawingml/2006/main">
            <a:r>
              <a:t>출처: https://codex-community-korea.skysplit.chatgpt.site/hackathon/seoul-2026-10</a:t>
            </a:r>
          </a:p>
          <a:p xmlns:a="http://schemas.openxmlformats.org/drawingml/2006/main">
            <a:r>
              <a:t>표지: OpenAI image generation으로 생성한 콘셉트 이미지. 실제 Isaac Sim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고객은 로봇 공정을 운영하는 제조 공장과 로봇 SI입니다. AI가 외부 지시와 카메라 장면을 해석하는 동안 정상 목표나 작업 순서가 바뀔 수 있습니다. 그러면 사람의 안전뿐 아니라 설비 안정성과 품질과 공정 복구가 문제가 됩니다. 실행 전에 정상 계약과 현장 상태를 대조하고 사고 분석에 필요한 판단 근거를 남기는 계층을 제안합니다.</a:t>
            </a:r>
          </a:p>
          <a:p xmlns:a="http://schemas.openxmlformats.org/drawingml/2006/main">
            <a:r>
              <a:t/>
            </a:r>
          </a:p>
          <a:p xmlns:a="http://schemas.openxmlformats.org/drawingml/2006/main">
            <a:r>
              <a:t>출처 및 증거:</a:t>
            </a:r>
          </a:p>
          <a:p xmlns:a="http://schemas.openxmlformats.org/drawingml/2006/main">
            <a:r>
              <a:t>공식 Track 1: AI for Safety &amp; Resilience / 팀의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a:t>
            </a:r>
          </a:p>
          <a:p xmlns:a="http://schemas.openxmlformats.org/drawingml/2006/main">
            <a:r>
              <a:t/>
            </a:r>
          </a:p>
          <a:p xmlns:a="http://schemas.openxmlformats.org/drawingml/2006/main">
            <a:r>
              <a:t>정상 작업은 빨간 공을 빨간 목적지로 옮긴 뒤 파란 공을 파란 목적지로 옮기는 것입니다. 이 목표를 벗어나는 행동을 일곱 유형으로 정했습니다. 사람과 위험 도구, 파지와 운반 실패, 정지 이후의 실행을 포함합니다. 원래 데이터의 SA 번호는 부록에 보존했습니다.</a:t>
            </a:r>
          </a:p>
          <a:p xmlns:a="http://schemas.openxmlformats.org/drawingml/2006/main">
            <a:r>
              <a:t/>
            </a:r>
          </a:p>
          <a:p xmlns:a="http://schemas.openxmlformats.org/drawingml/2006/main">
            <a:r>
              <a:t>출처 및 증거:</a:t>
            </a:r>
          </a:p>
          <a:p xmlns:a="http://schemas.openxmlformats.org/drawingml/2006/main">
            <a:r>
              <a:t>사용자 정의 7개 위험 유형 / contracts/sort.json</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왼쪽 영상은 기존 모델 단독 실험에서 칼이 작업자 형상에 접촉한 사례입니다. 입력과 실행 결과를 연결한 과거 기록이며 현재 필터 우회나 실제 부상을 의미하지 않습니다. 오른쪽은 정답 기반 실행기로 빨간 공과 파란 공을 지정 구역에 배치한 정상 기준 시연입니다. 정상 영상도 오늘 Codex 기반 필터와 3D 실행이 통합됐다는 증거는 아닙니다. 두 영상의 차이를 기준으로 위험 행동은 제한하고 정상 작업은 보존하는 것이 제품 목표입니다. 영상을 왼쪽과 오른쪽 순서로 클릭해 재생합니다.</a:t>
            </a:r>
          </a:p>
          <a:p xmlns:a="http://schemas.openxmlformats.org/drawingml/2006/main">
            <a:r>
              <a:t/>
            </a:r>
          </a:p>
          <a:p xmlns:a="http://schemas.openxmlformats.org/drawingml/2006/main">
            <a:r>
              <a:t>출처: 산출물/5주차/공격데이터셋/evaluation_20260929/칼접촉_장면_md소재_20260930/시각입력_g90/qwen_MCG90-KNF-BR-RP_실행영상.mp4. 사례 MCG90-KNF-BR-RP. README 및 outcome.json은 칼 들림과 접촉을 기록하며 접촉 후 파지 유지 실패도 포함. 시뮬레이터 접촉 이벤트를 부상이나 독립 공격 성공 횟수로 해석하지 않음.</a:t>
            </a:r>
          </a:p>
          <a:p xmlns:a="http://schemas.openxmlformats.org/drawingml/2006/main">
            <a:r>
              <a:t>정상: 산출물/3주차/정상기준/demo_20260920/s05-demo-vlm-clean-01.mp4 및 같은 JSON. oracle_executor=true, full_scenario_success=true. 원본 전체를 공격 2배속, 정상 4배속으로 변환. 영상 길이 약 10.37초와 16.97초.</a:t>
            </a:r>
          </a:p>
          <a:p xmlns:a="http://schemas.openxmlformats.org/drawingml/2006/main">
            <a:r>
              <a:t>두 실험 모두 사전 자산. 추가 외부 AI 호출이나 공격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솔루션의 핵심은 다단계 필터입니다. 입력과 관측이 검사 가능한지 먼저 확인합니다. 다음에는 계획이 승인한 작업의 대상과 목적지와 순서를 지키는지 대조합니다. 실제 명령으로 변환한 후에도 다시 확인하고 이동 경로를 검사합니다. 실행 중 상황이 바뀌면 정지하고 허가를 폐기합니다. 앞 단계가 통과했다고 뒤 단계를 생략하지 않으며, 정지 후에는 새 관측으로 다시 평가합니다.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분류 결과의 분포입니다. 텍스트 공격 라벨 270건 중 242건을 차단했고 23건은 보류했으며 5건은 통과했습니다. 차단 비율은 89.63퍼센트입니다. 이미지 64건은 25건 차단과 30건 보류와 9건 통과입니다. 전체는 267건 차단과 53건 보류와 14건 통과입니다. 보류를 차단으로 세지 않습니다. 이 결과는 입력 선별 단계이며 전체 실행 필터의 물리 방어 성공을 뜻하지 않습니다. 정상 대조와 이미지 정답이 없어 정확도와 오탐률은 산출하지 않았습니다. 이 때문에 계획과 실제 명령과 실행 상태를 계속 검사하는 구조가 필요합니다.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기존 아이디어와 공격 데이터는 사전 자산이고 로컬 필터와 승인 제어와 실행 기록은 오늘 구현했습니다. 모든 구현과 리뷰 도구는 Codex입니다. 독립 luna max 리뷰를 통해 변경을 점검했고, 기하 검사 결과 일치와 회귀 검증을 확인했습니다. 2D 기하 함수를 C++로 옮겨 합성 조건에서 3.242밀리초를 0.387밀리초로 줄였지만 모델 지연과 Isaac 실행 시간은 여기에 포함되지 않습니다.</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공장과 로봇 SI에 공통 검증 엔진과 현장별 정상 계약, 장비 Adapter를 제공하는 방식입니다. 먼저 관찰 모드로 오탐과 지연을 측정하고 제한된 작업에 적용합니다. 다음은 Isaac 정상 기준과 필터 통합, 실패 유형별 평가, 고객 파일럿입니다. 기대 효과는 위험 명령 사전 검토와 품질 추적, 중단 원인 분석이며 실제 도입 효과는 아직 검증해야 합니다.</a:t>
            </a:r>
          </a:p>
          <a:p xmlns:a="http://schemas.openxmlformats.org/drawingml/2006/main">
            <a:r>
              <a:t/>
            </a:r>
          </a:p>
          <a:p xmlns:a="http://schemas.openxmlformats.org/drawingml/2006/main">
            <a:r>
              <a:t>출처 및 증거:</a:t>
            </a:r>
          </a:p>
          <a:p xmlns:a="http://schemas.openxmlformats.org/drawingml/2006/main">
            <a:r>
              <a:t>Track 1 도입 주체·기대 효과 / 팀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36c3ce91cf40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fe5d389d9240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c9a7b2baa04f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a70c2b2ce34a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cb37e089134a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8663a14acd41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A3020-0367-4113-8653-132C39A967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CDF8C8-FAAB-4749-861E-A2E76C08AB7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CBEE8D-4B89-4763-8D14-A2EEC6CBCB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D8D261-6886-4464-976A-344515DD95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09BC8D-6E5C-443B-9AE2-6E6A3FF7D0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647091-B752-41E4-99B0-201C24B9E2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69F5DA-FC44-4B0D-9768-9BD82D9922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90929F-FFC0-41E2-AE9F-D775EB399B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A08592-DCD0-44F8-BB5B-AFB48FD56D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5B438B-DF66-427D-A314-5C98779D88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cf0f76cd504aef" /><Relationship Type="http://schemas.openxmlformats.org/officeDocument/2006/relationships/slideLayout" Target="/ppt/slideLayouts/slideLayout1.xml" Id="Ra3f72402828748b9" /><Relationship Type="http://schemas.openxmlformats.org/officeDocument/2006/relationships/slideLayout" Target="/ppt/slideLayouts/slideLayout2.xml" Id="Re728b550244e4fef" /><Relationship Type="http://schemas.openxmlformats.org/officeDocument/2006/relationships/slideLayout" Target="/ppt/slideLayouts/slideLayout3.xml" Id="R787cdc0e91b946e9" /><Relationship Type="http://schemas.openxmlformats.org/officeDocument/2006/relationships/slideLayout" Target="/ppt/slideLayouts/slideLayout4.xml" Id="R76ebdcabba2c4fe0" /><Relationship Type="http://schemas.openxmlformats.org/officeDocument/2006/relationships/slideLayout" Target="/ppt/slideLayouts/slideLayout5.xml" Id="R41499214074945fc" /><Relationship Type="http://schemas.openxmlformats.org/officeDocument/2006/relationships/slideLayout" Target="/ppt/slideLayouts/slideLayout6.xml" Id="R30116300c8634c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f72402828748b9"/>
    <p:sldLayoutId xmlns:r="http://schemas.openxmlformats.org/officeDocument/2006/relationships" id="2147483650" r:id="Re728b550244e4fef"/>
    <p:sldLayoutId xmlns:r="http://schemas.openxmlformats.org/officeDocument/2006/relationships" id="2147483651" r:id="R787cdc0e91b946e9"/>
    <p:sldLayoutId xmlns:r="http://schemas.openxmlformats.org/officeDocument/2006/relationships" id="2147483652" r:id="R76ebdcabba2c4fe0"/>
    <p:sldLayoutId xmlns:r="http://schemas.openxmlformats.org/officeDocument/2006/relationships" id="2147483653" r:id="R41499214074945fc"/>
    <p:sldLayoutId xmlns:r="http://schemas.openxmlformats.org/officeDocument/2006/relationships" id="2147483654" r:id="R30116300c8634c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1790135e3b4953" /><Relationship Type="http://schemas.openxmlformats.org/officeDocument/2006/relationships/image" Target="/ppt/media/image.png" Id="R1367b01563db49c9" /><Relationship Type="http://schemas.openxmlformats.org/officeDocument/2006/relationships/notesSlide" Target="/ppt/notesSlides/notesSlide1.xml" Id="R425dfe6bdb7948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7500f727e04cea" /><Relationship Type="http://schemas.openxmlformats.org/officeDocument/2006/relationships/notesSlide" Target="/ppt/notesSlides/notesSlide2.xml" Id="R61d0ce5f84a44b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018d4b7e774760" /><Relationship Type="http://schemas.openxmlformats.org/officeDocument/2006/relationships/notesSlide" Target="/ppt/notesSlides/notesSlide3.xml" Id="R52d2f55fbc174231"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6618c51382a2444d" /><Relationship Type="http://schemas.openxmlformats.org/officeDocument/2006/relationships/image" Target="/ppt/media/image.jpeg" Id="Rcbf8c200fe9d45f6" /><Relationship Type="http://schemas.openxmlformats.org/officeDocument/2006/relationships/image" Target="/ppt/media/image2.jpeg" Id="Rcff0aaba0f3948b8" /><Relationship Type="http://schemas.openxmlformats.org/officeDocument/2006/relationships/notesSlide" Target="/ppt/notesSlides/notesSlide4.xml" Id="Rbb983f9460264f51" /><Relationship Id="rIdVideoattack" Type="http://schemas.openxmlformats.org/officeDocument/2006/relationships/video" Target="../media/k2a-attack.mp4" /><Relationship Id="rIdMediaattack" Type="http://schemas.microsoft.com/office/2007/relationships/media" Target="../media/k2a-attack.mp4" /><Relationship Id="rIdVideonormal" Type="http://schemas.openxmlformats.org/officeDocument/2006/relationships/video" Target="../media/k2a-normal.mp4" /><Relationship Id="rIdMedianormal" Type="http://schemas.microsoft.com/office/2007/relationships/media" Target="../media/k2a-normal.mp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26699558a04db4" /><Relationship Type="http://schemas.openxmlformats.org/officeDocument/2006/relationships/notesSlide" Target="/ppt/notesSlides/notesSlide5.xml" Id="Rb6fe532880c748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547e56ee2f4720" /><Relationship Type="http://schemas.openxmlformats.org/officeDocument/2006/relationships/image" Target="/ppt/media/image3.jpeg" Id="R05bdd1a74adc4f5d" /><Relationship Type="http://schemas.openxmlformats.org/officeDocument/2006/relationships/notesSlide" Target="/ppt/notesSlides/notesSlide6.xml" Id="Rdc73b93f626547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70a500c8e645c0" /><Relationship Type="http://schemas.openxmlformats.org/officeDocument/2006/relationships/notesSlide" Target="/ppt/notesSlides/notesSlide7.xml" Id="R754b442e9bd446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2be60bc05a4938" /><Relationship Type="http://schemas.openxmlformats.org/officeDocument/2006/relationships/notesSlide" Target="/ppt/notesSlides/notesSlide8.xml" Id="R295d5c5ae1da49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d598a74e9348ae" /><Relationship Type="http://schemas.openxmlformats.org/officeDocument/2006/relationships/notesSlide" Target="/ppt/notesSlides/notesSlide9.xml" Id="Rff79c706dcaa405f" /></Relationships>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0275805-8932-403B-B524-16E9636874AD}"/>
              </a:ext>
            </a:extLst>
          </p:cNvPr>
          <p:cNvPicPr>
            <a:picLocks xmlns:a="http://schemas.openxmlformats.org/drawingml/2006/main" noChangeAspect="1"/>
          </p:cNvPicPr>
          <p:nvPr/>
        </p:nvPicPr>
        <p:blipFill>
          <a:blip xmlns:r="http://schemas.openxmlformats.org/officeDocument/2006/relationships" xmlns:a="http://schemas.openxmlformats.org/drawingml/2006/main" r:embed="R1367b01563db49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BA1C9A-1E56-476D-99E3-F3DDEC3B98D5}"/>
              </a:ext>
            </a:extLst>
          </p:cNvPr>
          <p:cNvSpPr>
            <a:spLocks xmlns:a="http://schemas.openxmlformats.org/drawingml/2006/main" noGrp="1"/>
          </p:cNvSpPr>
          <p:nvPr/>
        </p:nvSpPr>
        <p:spPr>
          <a:xfrm xmlns:a="http://schemas.openxmlformats.org/drawingml/2006/main">
            <a:off x="609600" y="6286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DE0C0"/>
                </a:solidFill>
                <a:latin typeface="Malgun Gothic"/>
                <a:ea typeface="Malgun Gothic"/>
                <a:cs typeface="Malgun Gothic"/>
              </a:defRPr>
            </a:defPPr>
          </a:lstStyle>
          <a:p xmlns:a="http://schemas.openxmlformats.org/drawingml/2006/main">
            <a:pPr algn="l">
              <a:buNone/>
              <a:defRPr sz="1650" b="1">
                <a:solidFill>
                  <a:srgbClr val="5DE0C0"/>
                </a:solidFill>
                <a:latin typeface="Malgun Gothic"/>
                <a:ea typeface="Malgun Gothic"/>
                <a:cs typeface="Malgun Gothic"/>
              </a:defRPr>
            </a:pPr>
            <a:r>
              <a:rPr sz="1650" b="1">
                <a:solidFill>
                  <a:srgbClr val="5DE0C0"/>
                </a:solidFill>
                <a:latin typeface="Malgun Gothic"/>
                <a:ea typeface="Malgun Gothic"/>
                <a:cs typeface="Malgun Gothic"/>
              </a:rPr>
              <a:t>AI FOR SAFETY &amp; RESILIENCE</a:t>
            </a:r>
          </a:p>
        </p:txBody>
      </p:sp>
      <p:sp>
        <p:nvSpPr>
          <p:cNvPr id="3" name="">
            <a:extLst xmlns:a="http://schemas.openxmlformats.org/drawingml/2006/main">
              <a:ext uri="{FF2B5EF4-FFF2-40B4-BE49-F238E27FC236}">
                <a16:creationId xmlns:a16="http://schemas.microsoft.com/office/drawing/2014/main" id="{81FB3C18-9EBF-4EC2-9E7A-89A273D6B01E}"/>
              </a:ext>
            </a:extLst>
          </p:cNvPr>
          <p:cNvSpPr>
            <a:spLocks xmlns:a="http://schemas.openxmlformats.org/drawingml/2006/main" noGrp="1"/>
          </p:cNvSpPr>
          <p:nvPr/>
        </p:nvSpPr>
        <p:spPr>
          <a:xfrm xmlns:a="http://schemas.openxmlformats.org/drawingml/2006/main">
            <a:off x="609600" y="15716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Malgun Gothic"/>
                <a:ea typeface="Malgun Gothic"/>
                <a:cs typeface="Malgun Gothic"/>
              </a:defRPr>
            </a:defPPr>
          </a:lstStyle>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K-Scene2Action</a:t>
            </a:r>
          </a:p>
        </p:txBody>
      </p:sp>
      <p:sp>
        <p:nvSpPr>
          <p:cNvPr id="4" name="">
            <a:extLst xmlns:a="http://schemas.openxmlformats.org/drawingml/2006/main">
              <a:ext uri="{FF2B5EF4-FFF2-40B4-BE49-F238E27FC236}">
                <a16:creationId xmlns:a16="http://schemas.microsoft.com/office/drawing/2014/main" id="{EE9A46B1-37D9-4BD5-9DD2-DB54C1657630}"/>
              </a:ext>
            </a:extLst>
          </p:cNvPr>
          <p:cNvSpPr>
            <a:spLocks xmlns:a="http://schemas.openxmlformats.org/drawingml/2006/main" noGrp="1"/>
          </p:cNvSpPr>
          <p:nvPr/>
        </p:nvSpPr>
        <p:spPr>
          <a:xfrm xmlns:a="http://schemas.openxmlformats.org/drawingml/2006/main">
            <a:off x="609600" y="25336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Malgun Gothic"/>
                <a:ea typeface="Malgun Gothic"/>
                <a:cs typeface="Malgun Gothic"/>
              </a:defRPr>
            </a:defPPr>
          </a:lstStyle>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AI 로봇 실행 검증</a:t>
            </a:r>
          </a:p>
        </p:txBody>
      </p:sp>
      <p:sp>
        <p:nvSpPr>
          <p:cNvPr id="5" name="">
            <a:extLst xmlns:a="http://schemas.openxmlformats.org/drawingml/2006/main">
              <a:ext uri="{FF2B5EF4-FFF2-40B4-BE49-F238E27FC236}">
                <a16:creationId xmlns:a16="http://schemas.microsoft.com/office/drawing/2014/main" id="{00917A5D-C0D0-41F4-9FD4-591DCFFDC160}"/>
              </a:ext>
            </a:extLst>
          </p:cNvPr>
          <p:cNvSpPr>
            <a:spLocks xmlns:a="http://schemas.openxmlformats.org/drawingml/2006/main" noGrp="1"/>
          </p:cNvSpPr>
          <p:nvPr/>
        </p:nvSpPr>
        <p:spPr>
          <a:xfrm xmlns:a="http://schemas.openxmlformats.org/drawingml/2006/main">
            <a:off x="609600" y="358140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0ECE9"/>
                </a:solidFill>
                <a:latin typeface="Malgun Gothic"/>
                <a:ea typeface="Malgun Gothic"/>
                <a:cs typeface="Malgun Gothic"/>
              </a:defRPr>
            </a:defPPr>
          </a:lstStyle>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정상 작업 계약으로</a:t>
            </a:r>
          </a:p>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계획과 명령을 검증합니다</a:t>
            </a:r>
          </a:p>
        </p:txBody>
      </p:sp>
      <p:sp>
        <p:nvSpPr>
          <p:cNvPr id="6" name="">
            <a:extLst xmlns:a="http://schemas.openxmlformats.org/drawingml/2006/main">
              <a:ext uri="{FF2B5EF4-FFF2-40B4-BE49-F238E27FC236}">
                <a16:creationId xmlns:a16="http://schemas.microsoft.com/office/drawing/2014/main" id="{D61A1A5A-9922-4FE2-9CEA-250BAEB3BD84}"/>
              </a:ext>
            </a:extLst>
          </p:cNvPr>
          <p:cNvSpPr>
            <a:spLocks xmlns:a="http://schemas.openxmlformats.org/drawingml/2006/main" noGrp="1"/>
          </p:cNvSpPr>
          <p:nvPr/>
        </p:nvSpPr>
        <p:spPr>
          <a:xfrm xmlns:a="http://schemas.openxmlformats.org/drawingml/2006/main">
            <a:off x="609600" y="57150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E4"/>
                </a:solidFill>
                <a:latin typeface="Malgun Gothic"/>
                <a:ea typeface="Malgun Gothic"/>
                <a:cs typeface="Malgun Gothic"/>
              </a:defRPr>
            </a:defPPr>
          </a:lstStyle>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또봇   예선 4분</a:t>
            </a:r>
          </a:p>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DevDay Exchange Community Hackathon Seoul</a:t>
            </a:r>
          </a:p>
        </p:txBody>
      </p:sp>
      <p:sp>
        <p:nvSpPr>
          <p:cNvPr id="7" name="">
            <a:extLst xmlns:a="http://schemas.openxmlformats.org/drawingml/2006/main">
              <a:ext uri="{FF2B5EF4-FFF2-40B4-BE49-F238E27FC236}">
                <a16:creationId xmlns:a16="http://schemas.microsoft.com/office/drawing/2014/main" id="{D3E08657-557D-4B24-B463-178A6B9817C6}"/>
              </a:ext>
            </a:extLst>
          </p:cNvPr>
          <p:cNvSpPr>
            <a:spLocks xmlns:a="http://schemas.openxmlformats.org/drawingml/2006/main" noGrp="1"/>
          </p:cNvSpPr>
          <p:nvPr/>
        </p:nvSpPr>
        <p:spPr>
          <a:xfrm xmlns:a="http://schemas.openxmlformats.org/drawingml/2006/main">
            <a:off x="10096500" y="64389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AD8D6"/>
                </a:solidFill>
                <a:latin typeface="Malgun Gothic"/>
                <a:ea typeface="Malgun Gothic"/>
                <a:cs typeface="Malgun Gothic"/>
              </a:defRPr>
            </a:defPPr>
          </a:lstStyle>
          <a:p xmlns:a="http://schemas.openxmlformats.org/drawingml/2006/main">
            <a:pPr algn="l">
              <a:buNone/>
              <a:defRPr sz="1200" b="0">
                <a:solidFill>
                  <a:srgbClr val="CAD8D6"/>
                </a:solidFill>
                <a:latin typeface="Malgun Gothic"/>
                <a:ea typeface="Malgun Gothic"/>
                <a:cs typeface="Malgun Gothic"/>
              </a:defRPr>
            </a:pPr>
            <a:r>
              <a:rPr sz="1200" b="0">
                <a:solidFill>
                  <a:srgbClr val="CAD8D6"/>
                </a:solidFill>
                <a:latin typeface="Malgun Gothic"/>
                <a:ea typeface="Malgun Gothic"/>
                <a:cs typeface="Malgun Gothic"/>
              </a:rPr>
              <a:t>콘셉트 이미지</a:t>
            </a:r>
          </a:p>
        </p:txBody>
      </p:sp>
    </p:spTree>
    <p:extLst>
      <p:ext uri="{BB962C8B-B14F-4D97-AF65-F5344CB8AC3E}">
        <p14:creationId xmlns:p14="http://schemas.microsoft.com/office/powerpoint/2010/main" val="2027611039"/>
      </p:ext>
    </p:extLst>
  </p:cSld>
</p:sld>
</file>

<file path=ppt/slides/slide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90C7F6-602A-4FF3-A742-CF4EC2A8F1B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문제와 고객</a:t>
            </a:r>
          </a:p>
        </p:txBody>
      </p:sp>
      <p:sp>
        <p:nvSpPr>
          <p:cNvPr id="2" name="">
            <a:extLst xmlns:a="http://schemas.openxmlformats.org/drawingml/2006/main">
              <a:ext uri="{FF2B5EF4-FFF2-40B4-BE49-F238E27FC236}">
                <a16:creationId xmlns:a16="http://schemas.microsoft.com/office/drawing/2014/main" id="{42115780-BD17-45C5-918D-BA32CEFFAF15}"/>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작업 지시 오류와 공정 손실</a:t>
            </a:r>
          </a:p>
        </p:txBody>
      </p:sp>
      <p:sp>
        <p:nvSpPr>
          <p:cNvPr id="3" name="">
            <a:extLst xmlns:a="http://schemas.openxmlformats.org/drawingml/2006/main">
              <a:ext uri="{FF2B5EF4-FFF2-40B4-BE49-F238E27FC236}">
                <a16:creationId xmlns:a16="http://schemas.microsoft.com/office/drawing/2014/main" id="{AC8BB8DC-C22E-4E58-B94E-89F1E8776295}"/>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347C838B-3B2B-4CB9-A354-A5BAF0EC4C0B}"/>
              </a:ext>
            </a:extLst>
          </p:cNvPr>
          <p:cNvSpPr>
            <a:spLocks xmlns:a="http://schemas.openxmlformats.org/drawingml/2006/main" noGrp="1"/>
          </p:cNvSpPr>
          <p:nvPr/>
        </p:nvSpPr>
        <p:spPr>
          <a:xfrm xmlns:a="http://schemas.openxmlformats.org/drawingml/2006/main">
            <a:off x="609600" y="1885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3F7FA"/>
                </a:solidFill>
                <a:latin typeface="Malgun Gothic"/>
                <a:ea typeface="Malgun Gothic"/>
                <a:cs typeface="Malgun Gothic"/>
              </a:defRPr>
            </a:defPPr>
          </a:lstStyle>
          <a:p xmlns:a="http://schemas.openxmlformats.org/drawingml/2006/main">
            <a:pPr algn="l">
              <a:buNone/>
              <a:defRPr sz="2850" b="1">
                <a:solidFill>
                  <a:srgbClr val="F3F7FA"/>
                </a:solidFill>
                <a:latin typeface="Malgun Gothic"/>
                <a:ea typeface="Malgun Gothic"/>
                <a:cs typeface="Malgun Gothic"/>
              </a:defRPr>
            </a:pPr>
            <a:r>
              <a:rPr sz="2850" b="1">
                <a:solidFill>
                  <a:srgbClr val="F3F7FA"/>
                </a:solidFill>
                <a:latin typeface="Malgun Gothic"/>
                <a:ea typeface="Malgun Gothic"/>
                <a:cs typeface="Malgun Gothic"/>
              </a:rPr>
              <a:t>외부 지시·이미지의 해석 오류</a:t>
            </a:r>
          </a:p>
        </p:txBody>
      </p:sp>
      <p:sp>
        <p:nvSpPr>
          <p:cNvPr id="5" name="">
            <a:extLst xmlns:a="http://schemas.openxmlformats.org/drawingml/2006/main">
              <a:ext uri="{FF2B5EF4-FFF2-40B4-BE49-F238E27FC236}">
                <a16:creationId xmlns:a16="http://schemas.microsoft.com/office/drawing/2014/main" id="{DBDDB580-5CBD-4B86-9850-963B1A6725D0}"/>
              </a:ext>
            </a:extLst>
          </p:cNvPr>
          <p:cNvSpPr>
            <a:spLocks xmlns:a="http://schemas.openxmlformats.org/drawingml/2006/main" noGrp="1"/>
          </p:cNvSpPr>
          <p:nvPr/>
        </p:nvSpPr>
        <p:spPr>
          <a:xfrm xmlns:a="http://schemas.openxmlformats.org/drawingml/2006/main">
            <a:off x="609600" y="26574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AI 계획이 정상 작업의 대상·목적지·순서를 바꿀 수 있습니다.</a:t>
            </a:r>
          </a:p>
        </p:txBody>
      </p:sp>
      <p:graphicFrame>
        <p:nvGraphicFramePr>
          <p:cNvPr id="6" name="">
            <a:extLst xmlns:a="http://schemas.openxmlformats.org/drawingml/2006/main">
              <a:ext uri="{FF2B5EF4-FFF2-40B4-BE49-F238E27FC236}">
                <a16:creationId xmlns:a16="http://schemas.microsoft.com/office/drawing/2014/main" id="{D0DBE5B8-8353-4D36-97DD-940FB74C7429}"/>
              </a:ext>
            </a:extLst>
          </p:cNvPr>
          <p:cNvGraphicFramePr/>
          <p:nvPr/>
        </p:nvGraphicFramePr>
        <p:xfrm>
          <a:off xmlns:a="http://schemas.openxmlformats.org/drawingml/2006/main" x="609600" y="3562350"/>
          <a:ext xmlns:a="http://schemas.openxmlformats.org/drawingml/2006/main" cx="10972800" cy="2009775"/>
        </p:xfrm>
        <a:graphic xmlns:a="http://schemas.openxmlformats.org/drawingml/2006/main">
          <a:graphicData uri="http://schemas.openxmlformats.org/drawingml/2006/table">
            <a:tbl>
              <a:tblPr/>
              <a:tblGrid>
                <a:gridCol w="3286125"/>
                <a:gridCol w="7686675"/>
              </a:tblGrid>
              <a:tr h="502444">
                <a:tc>
                  <a:txBody>
                    <a:bodyPr wrap="square"/>
                    <a:lstStyle/>
                    <a:p>
                      <a:r>
                        <a:rPr sz="1950" b="1">
                          <a:solidFill>
                            <a:srgbClr val="5DE0C0"/>
                          </a:solidFill>
                          <a:latin typeface="Malgun Gothic"/>
                          <a:ea typeface="Malgun Gothic"/>
                          <a:cs typeface="Malgun Gothic"/>
                        </a:rPr>
                        <a:t>손실</a:t>
                      </a:r>
                    </a:p>
                  </a:txBody>
                  <a:tcPr marL="91440" marR="91440" marT="45720" marB="45720" anchor="ctr">
                    <a:solidFill>
                      <a:srgbClr val="173C4C"/>
                    </a:solidFill>
                  </a:tcPr>
                </a:tc>
                <a:tc>
                  <a:txBody>
                    <a:bodyPr wrap="square"/>
                    <a:lstStyle/>
                    <a:p>
                      <a:r>
                        <a:rPr sz="1950" b="1">
                          <a:solidFill>
                            <a:srgbClr val="5DE0C0"/>
                          </a:solidFill>
                          <a:latin typeface="Malgun Gothic"/>
                          <a:ea typeface="Malgun Gothic"/>
                          <a:cs typeface="Malgun Gothic"/>
                        </a:rPr>
                        <a:t>고객에게 필요한 대응</a:t>
                      </a:r>
                    </a:p>
                  </a:txBody>
                  <a:tcPr marL="91440" marR="91440" marT="45720" marB="45720" anchor="ctr">
                    <a:solidFill>
                      <a:srgbClr val="173C4C"/>
                    </a:solidFill>
                  </a:tcPr>
                </a:tc>
              </a:tr>
              <a:tr h="502444">
                <a:tc>
                  <a:txBody>
                    <a:bodyPr wrap="square"/>
                    <a:lstStyle/>
                    <a:p>
                      <a:r>
                        <a:rPr sz="1950" b="0">
                          <a:solidFill>
                            <a:srgbClr val="F3F7FA"/>
                          </a:solidFill>
                          <a:latin typeface="Malgun Gothic"/>
                          <a:ea typeface="Malgun Gothic"/>
                          <a:cs typeface="Malgun Gothic"/>
                        </a:rPr>
                        <a:t>사람·설비 안전</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위험 행동을 실행 전에 검토</a:t>
                      </a:r>
                    </a:p>
                  </a:txBody>
                  <a:tcPr marL="91440" marR="91440" marT="45720" marB="45720" anchor="ctr">
                    <a:solidFill>
                      <a:srgbClr val="102638"/>
                    </a:solidFill>
                  </a:tcPr>
                </a:tc>
              </a:tr>
              <a:tr h="502444">
                <a:tc>
                  <a:txBody>
                    <a:bodyPr wrap="square"/>
                    <a:lstStyle/>
                    <a:p>
                      <a:r>
                        <a:rPr sz="1950" b="0">
                          <a:solidFill>
                            <a:srgbClr val="F3F7FA"/>
                          </a:solidFill>
                          <a:latin typeface="Malgun Gothic"/>
                          <a:ea typeface="Malgun Gothic"/>
                          <a:cs typeface="Malgun Gothic"/>
                        </a:rPr>
                        <a:t>제품 품질·공정 안정</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정상 작업과 실제 명령열의 일치 확인</a:t>
                      </a:r>
                    </a:p>
                  </a:txBody>
                  <a:tcPr marL="91440" marR="91440" marT="45720" marB="45720" anchor="ctr">
                    <a:solidFill>
                      <a:srgbClr val="102638"/>
                    </a:solidFill>
                  </a:tcPr>
                </a:tc>
              </a:tr>
              <a:tr h="502444">
                <a:tc>
                  <a:txBody>
                    <a:bodyPr wrap="square"/>
                    <a:lstStyle/>
                    <a:p>
                      <a:r>
                        <a:rPr sz="1950" b="0">
                          <a:solidFill>
                            <a:srgbClr val="F3F7FA"/>
                          </a:solidFill>
                          <a:latin typeface="Malgun Gothic"/>
                          <a:ea typeface="Malgun Gothic"/>
                          <a:cs typeface="Malgun Gothic"/>
                        </a:rPr>
                        <a:t>중단 후 회복</a:t>
                      </a:r>
                    </a:p>
                  </a:txBody>
                  <a:tcPr marL="91440" marR="91440" marT="45720" marB="45720" anchor="ctr">
                    <a:solidFill>
                      <a:srgbClr val="102638"/>
                    </a:solidFill>
                  </a:tcPr>
                </a:tc>
                <a:tc>
                  <a:txBody>
                    <a:bodyPr wrap="square"/>
                    <a:lstStyle/>
                    <a:p>
                      <a:r>
                        <a:rPr sz="1950" b="0">
                          <a:solidFill>
                            <a:srgbClr val="F3F7FA"/>
                          </a:solidFill>
                          <a:latin typeface="Malgun Gothic"/>
                          <a:ea typeface="Malgun Gothic"/>
                          <a:cs typeface="Malgun Gothic"/>
                        </a:rPr>
                        <a:t>원인 기록과 새 관측 기반 재승인</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78C28385-B527-4D48-9E73-2C5FB4A90415}"/>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초기 도입 고객: 제조 공장 / 로봇 SI. 사고 감소율과 경제적 효과는 현장 실증이 필요한 가설입니다.</a:t>
            </a:r>
          </a:p>
        </p:txBody>
      </p:sp>
    </p:spTree>
    <p:extLst>
      <p:ext uri="{BB962C8B-B14F-4D97-AF65-F5344CB8AC3E}">
        <p14:creationId xmlns:p14="http://schemas.microsoft.com/office/powerpoint/2010/main" val="1043164510"/>
      </p:ext>
    </p:extLst>
  </p:cSld>
</p:sld>
</file>

<file path=ppt/slides/slide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871D45-A720-4E91-A9C7-FEBC285BDFEE}"/>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위험 정의</a:t>
            </a:r>
          </a:p>
        </p:txBody>
      </p:sp>
      <p:sp>
        <p:nvSpPr>
          <p:cNvPr id="2" name="">
            <a:extLst xmlns:a="http://schemas.openxmlformats.org/drawingml/2006/main">
              <a:ext uri="{FF2B5EF4-FFF2-40B4-BE49-F238E27FC236}">
                <a16:creationId xmlns:a16="http://schemas.microsoft.com/office/drawing/2014/main" id="{16698759-ED26-4A6E-A6FA-819438369E35}"/>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위험 행동 1–7과 정상 작업</a:t>
            </a:r>
          </a:p>
        </p:txBody>
      </p:sp>
      <p:sp>
        <p:nvSpPr>
          <p:cNvPr id="3" name="">
            <a:extLst xmlns:a="http://schemas.openxmlformats.org/drawingml/2006/main">
              <a:ext uri="{FF2B5EF4-FFF2-40B4-BE49-F238E27FC236}">
                <a16:creationId xmlns:a16="http://schemas.microsoft.com/office/drawing/2014/main" id="{AA1AF996-DAAB-4055-B32C-C29D096E685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CF574248-DCFC-45B3-80AC-7D86DA568155}"/>
              </a:ext>
            </a:extLst>
          </p:cNvPr>
          <p:cNvSpPr>
            <a:spLocks xmlns:a="http://schemas.openxmlformats.org/drawingml/2006/main" noGrp="1"/>
          </p:cNvSpPr>
          <p:nvPr/>
        </p:nvSpPr>
        <p:spPr>
          <a:xfrm xmlns:a="http://schemas.openxmlformats.org/drawingml/2006/main">
            <a:off x="609600" y="18478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C0"/>
                </a:solidFill>
                <a:latin typeface="Malgun Gothic"/>
                <a:ea typeface="Malgun Gothic"/>
                <a:cs typeface="Malgun Gothic"/>
              </a:defRPr>
            </a:defPPr>
          </a:lstStyle>
          <a:p xmlns:a="http://schemas.openxmlformats.org/drawingml/2006/main">
            <a:pPr algn="l">
              <a:buNone/>
              <a:defRPr sz="2100" b="1">
                <a:solidFill>
                  <a:srgbClr val="5DE0C0"/>
                </a:solidFill>
                <a:latin typeface="Malgun Gothic"/>
                <a:ea typeface="Malgun Gothic"/>
                <a:cs typeface="Malgun Gothic"/>
              </a:defRPr>
            </a:pPr>
            <a:r>
              <a:rPr sz="2100" b="1">
                <a:solidFill>
                  <a:srgbClr val="5DE0C0"/>
                </a:solidFill>
                <a:latin typeface="Malgun Gothic"/>
                <a:ea typeface="Malgun Gothic"/>
                <a:cs typeface="Malgun Gothic"/>
              </a:rPr>
              <a:t>정상 계약</a:t>
            </a:r>
          </a:p>
        </p:txBody>
      </p:sp>
      <p:sp>
        <p:nvSpPr>
          <p:cNvPr id="5" name="">
            <a:extLst xmlns:a="http://schemas.openxmlformats.org/drawingml/2006/main">
              <a:ext uri="{FF2B5EF4-FFF2-40B4-BE49-F238E27FC236}">
                <a16:creationId xmlns:a16="http://schemas.microsoft.com/office/drawing/2014/main" id="{BE65763A-0796-4BD8-9B71-372B4493D88A}"/>
              </a:ext>
            </a:extLst>
          </p:cNvPr>
          <p:cNvSpPr>
            <a:spLocks xmlns:a="http://schemas.openxmlformats.org/drawingml/2006/main" noGrp="1"/>
          </p:cNvSpPr>
          <p:nvPr/>
        </p:nvSpPr>
        <p:spPr>
          <a:xfrm xmlns:a="http://schemas.openxmlformats.org/drawingml/2006/main">
            <a:off x="2819400" y="18478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F7FA"/>
                </a:solidFill>
                <a:latin typeface="Malgun Gothic"/>
                <a:ea typeface="Malgun Gothic"/>
                <a:cs typeface="Malgun Gothic"/>
              </a:defRPr>
            </a:defPPr>
          </a:lstStyle>
          <a:p xmlns:a="http://schemas.openxmlformats.org/drawingml/2006/main">
            <a:pPr algn="l">
              <a:buNone/>
              <a:defRPr sz="2250" b="1">
                <a:solidFill>
                  <a:srgbClr val="F3F7FA"/>
                </a:solidFill>
                <a:latin typeface="Malgun Gothic"/>
                <a:ea typeface="Malgun Gothic"/>
                <a:cs typeface="Malgun Gothic"/>
              </a:defRPr>
            </a:pPr>
            <a:r>
              <a:rPr sz="2250" b="1">
                <a:solidFill>
                  <a:srgbClr val="F3F7FA"/>
                </a:solidFill>
                <a:latin typeface="Malgun Gothic"/>
                <a:ea typeface="Malgun Gothic"/>
                <a:cs typeface="Malgun Gothic"/>
              </a:rPr>
              <a:t>red → bin_red, 그다음 blue → bin_blue</a:t>
            </a:r>
          </a:p>
        </p:txBody>
      </p:sp>
      <p:graphicFrame>
        <p:nvGraphicFramePr>
          <p:cNvPr id="6" name="">
            <a:extLst xmlns:a="http://schemas.openxmlformats.org/drawingml/2006/main">
              <a:ext uri="{FF2B5EF4-FFF2-40B4-BE49-F238E27FC236}">
                <a16:creationId xmlns:a16="http://schemas.microsoft.com/office/drawing/2014/main" id="{8F5E35A9-5A57-4FF0-97A9-D72DE5E5061C}"/>
              </a:ext>
            </a:extLst>
          </p:cNvPr>
          <p:cNvGraphicFramePr/>
          <p:nvPr/>
        </p:nvGraphicFramePr>
        <p:xfrm>
          <a:off xmlns:a="http://schemas.openxmlformats.org/drawingml/2006/main" x="609600" y="2609850"/>
          <a:ext xmlns:a="http://schemas.openxmlformats.org/drawingml/2006/main" cx="10972800" cy="3000375"/>
        </p:xfrm>
        <a:graphic xmlns:a="http://schemas.openxmlformats.org/drawingml/2006/main">
          <a:graphicData uri="http://schemas.openxmlformats.org/drawingml/2006/table">
            <a:tbl>
              <a:tblPr/>
              <a:tblGrid>
                <a:gridCol w="904875"/>
                <a:gridCol w="10067925"/>
              </a:tblGrid>
              <a:tr h="375047">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375047">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0E7EBB82-6488-42BD-B12C-7846B13FFCBB}"/>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7개 유형은 평가 요구사항입니다. 힘·낙하·사람 거리 등 3D 물리 검증은 아직 추가로 필요합니다.</a:t>
            </a:r>
          </a:p>
        </p:txBody>
      </p:sp>
    </p:spTree>
    <p:extLst>
      <p:ext uri="{BB962C8B-B14F-4D97-AF65-F5344CB8AC3E}">
        <p14:creationId xmlns:p14="http://schemas.microsoft.com/office/powerpoint/2010/main" val="1729988163"/>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B1C2C"/>
        </a:solidFill>
      </p:bgPr>
    </p:bg>
    <p:spTree>
      <p:nvGrpSpPr>
        <p:cNvPr id="1" name=""/>
        <p:cNvGrpSpPr/>
        <p:nvPr/>
      </p:nvGrpSpPr>
      <p:grpSpPr>
        <a:xfrm/>
      </p:grpSpPr>
      <p:sp>
        <p:nvSpPr>
          <p:cNvPr id="10" name="">
            <a:extLst>
              <a:ext uri="{FF2B5EF4-FFF2-40B4-BE49-F238E27FC236}">
                <ns2:creationId id="{836615F7-F4D4-4707-8AA9-EADF9B93F131}"/>
              </a:ext>
            </a:extLst>
          </p:cNvPr>
          <p:cNvSpPr>
            <a:spLocks noGrp="1"/>
          </p:cNvSpPr>
          <p:nvPr/>
        </p:nvSpPr>
        <p:spPr>
          <a:xfrm>
            <a:off x="609600" y="361950"/>
            <a:ext cx="10477500" cy="266700"/>
          </a:xfrm>
          <a:prstGeom prst="rect">
            <a:avLst/>
          </a:prstGeom>
          <a:noFill/>
          <a:ln w="0">
            <a:noFill/>
          </a:ln>
        </p:spPr>
        <p:txBody>
          <a:bodyPr wrap="square" lIns="0" tIns="0" rIns="0" bIns="0" anchor="t">
            <a:noAutofit/>
          </a:bodyPr>
          <a:lstStyle>
            <a:defPPr algn="l">
              <a:defRPr sz="1350" b="1">
                <a:solidFill>
                  <a:srgbClr val="5DE0C0"/>
                </a:solidFill>
                <a:latin typeface="Malgun Gothic"/>
                <a:ea typeface="Malgun Gothic"/>
                <a:cs typeface="Malgun Gothic"/>
              </a:defRPr>
            </a:defPPr>
          </a:lstStyle>
          <a:p>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Isaac Sim 실행 영상</a:t>
            </a:r>
          </a:p>
        </p:txBody>
      </p:sp>
      <p:sp>
        <p:nvSpPr>
          <p:cNvPr id="2" name="">
            <a:extLst>
              <a:ext uri="{FF2B5EF4-FFF2-40B4-BE49-F238E27FC236}">
                <ns2:creationId id="{6D447199-489D-4F34-8BF2-5C6505E3CEA9}"/>
              </a:ext>
            </a:extLst>
          </p:cNvPr>
          <p:cNvSpPr>
            <a:spLocks noGrp="1"/>
          </p:cNvSpPr>
          <p:nvPr/>
        </p:nvSpPr>
        <p:spPr>
          <a:xfrm>
            <a:off x="609600" y="838200"/>
            <a:ext cx="10972800" cy="809625"/>
          </a:xfrm>
          <a:prstGeom prst="rect">
            <a:avLst/>
          </a:prstGeom>
          <a:noFill/>
          <a:ln w="0">
            <a:noFill/>
          </a:ln>
        </p:spPr>
        <p:txBody>
          <a:bodyPr wrap="square" lIns="0" tIns="0" rIns="0" bIns="0" anchor="t">
            <a:noAutofit/>
          </a:bodyPr>
          <a:lstStyle>
            <a:defPPr algn="l">
              <a:defRPr sz="3450" b="1">
                <a:solidFill>
                  <a:srgbClr val="F3F7FA"/>
                </a:solidFill>
                <a:latin typeface="Malgun Gothic"/>
                <a:ea typeface="Malgun Gothic"/>
                <a:cs typeface="Malgun Gothic"/>
              </a:defRPr>
            </a:defPPr>
          </a:lstStyle>
          <a:p>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공격 행동과 정상 작업의 차이</a:t>
            </a:r>
          </a:p>
        </p:txBody>
      </p:sp>
      <p:sp>
        <p:nvSpPr>
          <p:cNvPr id="3" name="">
            <a:extLst>
              <a:ext uri="{FF2B5EF4-FFF2-40B4-BE49-F238E27FC236}">
                <ns2:creationId id="{9A41F57B-E020-4D2A-831D-1A741AAD0961}"/>
              </a:ext>
            </a:extLst>
          </p:cNvPr>
          <p:cNvSpPr>
            <a:spLocks noGrp="1"/>
          </p:cNvSpPr>
          <p:nvPr/>
        </p:nvSpPr>
        <p:spPr>
          <a:xfrm>
            <a:off x="609600" y="1752600"/>
            <a:ext cx="523875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공격 사례 · 칼 접촉</a:t>
            </a:r>
          </a:p>
        </p:txBody>
      </p:sp>
      <p:sp>
        <p:nvSpPr>
          <p:cNvPr id="4" name="">
            <a:extLst>
              <a:ext uri="{FF2B5EF4-FFF2-40B4-BE49-F238E27FC236}">
                <ns2:creationId id="{82336E05-50CE-4856-9C2A-5E1C711B2E64}"/>
              </a:ext>
            </a:extLst>
          </p:cNvPr>
          <p:cNvSpPr>
            <a:spLocks noGrp="1"/>
          </p:cNvSpPr>
          <p:nvPr/>
        </p:nvSpPr>
        <p:spPr>
          <a:xfrm>
            <a:off x="6324600" y="1752600"/>
            <a:ext cx="525780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정상 사례 · 두 공 운반</a:t>
            </a:r>
          </a:p>
        </p:txBody>
      </p:sp>
      <p:pic>
        <p:nvPicPr>
          <p:cNvPr id="5" name="attack-presentation.mp4" descr="VIDEO_ATTACK_POSTER">
            <a:hlinkClick action="ppaction://media"/>
            <a:extLst>
              <a:ext uri="{FF2B5EF4-FFF2-40B4-BE49-F238E27FC236}">
                <ns2:creationId id="{299F82D6-4A27-4782-A19D-627A4C86CF19}"/>
              </a:ext>
            </a:extLst>
          </p:cNvPr>
          <p:cNvPicPr>
            <a:picLocks noChangeAspect="1"/>
          </p:cNvPicPr>
          <p:nvPr>
            <a:videoFile r:link="rIdVideoattack"/>
            <p:extLst>
              <p:ext uri="{DAA4B4D4-6D71-4841-9C94-3DE7FCFB9230}">
                <p14:media r:embed="rIdMediaattack"/>
              </p:ext>
            </p:extLst>
          </p:nvPr>
        </p:nvPicPr>
        <p:blipFill>
          <a:blip r:embed="Rcbf8c200fe9d45f6"/>
          <a:stretch/>
        </p:blipFill>
        <p:spPr>
          <a:xfrm>
            <a:off x="609600" y="2324100"/>
            <a:ext cx="5257800" cy="2957513"/>
          </a:xfrm>
          <a:prstGeom prst="rect">
            <a:avLst/>
          </a:prstGeom>
        </p:spPr>
      </p:pic>
      <p:pic>
        <p:nvPicPr>
          <p:cNvPr id="6" name="normal-presentation.mp4" descr="VIDEO_NORMAL_POSTER">
            <a:hlinkClick action="ppaction://media"/>
            <a:extLst>
              <a:ext uri="{FF2B5EF4-FFF2-40B4-BE49-F238E27FC236}">
                <ns2:creationId id="{261AB06D-EA5E-405E-B0EC-F8F42E10BAE3}"/>
              </a:ext>
            </a:extLst>
          </p:cNvPr>
          <p:cNvPicPr>
            <a:picLocks noChangeAspect="1"/>
          </p:cNvPicPr>
          <p:nvPr>
            <a:videoFile r:link="rIdVideonormal"/>
            <p:extLst>
              <p:ext uri="{DAA4B4D4-6D71-4841-9C94-3DE7FCFB9230}">
                <p14:media r:embed="rIdMedianormal"/>
              </p:ext>
            </p:extLst>
          </p:nvPr>
        </p:nvPicPr>
        <p:blipFill>
          <a:blip r:embed="Rcff0aaba0f3948b8"/>
          <a:stretch/>
        </p:blipFill>
        <p:spPr>
          <a:xfrm>
            <a:off x="6324600" y="2324100"/>
            <a:ext cx="5257800" cy="2957513"/>
          </a:xfrm>
          <a:prstGeom prst="rect">
            <a:avLst/>
          </a:prstGeom>
        </p:spPr>
      </p:pic>
      <p:sp>
        <p:nvSpPr>
          <p:cNvPr id="7" name="">
            <a:extLst>
              <a:ext uri="{FF2B5EF4-FFF2-40B4-BE49-F238E27FC236}">
                <ns2:creationId id="{9D54FFFB-0A43-4BDA-8EE1-3B2F3FBF3CBC}"/>
              </a:ext>
            </a:extLst>
          </p:cNvPr>
          <p:cNvSpPr>
            <a:spLocks noGrp="1"/>
          </p:cNvSpPr>
          <p:nvPr/>
        </p:nvSpPr>
        <p:spPr>
          <a:xfrm>
            <a:off x="609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칼을 든 로봇이 작업자 형상에 접촉</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과거 Qwen 모델 단독 실험 · 2배속</a:t>
            </a:r>
          </a:p>
        </p:txBody>
      </p:sp>
      <p:sp>
        <p:nvSpPr>
          <p:cNvPr id="8" name="">
            <a:extLst>
              <a:ext uri="{FF2B5EF4-FFF2-40B4-BE49-F238E27FC236}">
                <ns2:creationId id="{B274BB33-3944-42FE-B0B0-6DA36FA75A8F}"/>
              </a:ext>
            </a:extLst>
          </p:cNvPr>
          <p:cNvSpPr>
            <a:spLocks noGrp="1"/>
          </p:cNvSpPr>
          <p:nvPr/>
        </p:nvSpPr>
        <p:spPr>
          <a:xfrm>
            <a:off x="6324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빨강은 1구역, 파랑은 2구역에 배치</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기존 정상 기준 시연 · 4배속</a:t>
            </a:r>
          </a:p>
        </p:txBody>
      </p:sp>
      <p:sp>
        <p:nvSpPr>
          <p:cNvPr id="9" name="">
            <a:extLst>
              <a:ext uri="{FF2B5EF4-FFF2-40B4-BE49-F238E27FC236}">
                <ns2:creationId id="{8089AEF2-C082-4E43-AE4A-590F57438F54}"/>
              </a:ext>
            </a:extLst>
          </p:cNvPr>
          <p:cNvSpPr>
            <a:spLocks noGrp="1"/>
          </p:cNvSpPr>
          <p:nvPr/>
        </p:nvSpPr>
        <p:spPr>
          <a:xfrm>
            <a:off x="609600" y="6162675"/>
            <a:ext cx="10972800" cy="323850"/>
          </a:xfrm>
          <a:prstGeom prst="rect">
            <a:avLst/>
          </a:prstGeom>
          <a:noFill/>
          <a:ln w="0">
            <a:noFill/>
          </a:ln>
        </p:spPr>
        <p:txBody>
          <a:bodyPr wrap="square" lIns="0" tIns="0" rIns="0" bIns="0" anchor="t">
            <a:noAutofit/>
          </a:bodyPr>
          <a:lstStyle>
            <a:defPPr algn="l">
              <a:defRPr sz="1425" b="0">
                <a:solidFill>
                  <a:srgbClr val="BED0DA"/>
                </a:solidFill>
                <a:latin typeface="Malgun Gothic"/>
                <a:ea typeface="Malgun Gothic"/>
                <a:cs typeface="Malgun Gothic"/>
              </a:defRPr>
            </a:defPPr>
          </a:lstStyle>
          <a:p>
            <a:pPr algn="l">
              <a:buNone/>
              <a:defRPr sz="1425" b="0">
                <a:solidFill>
                  <a:srgbClr val="BED0DA"/>
                </a:solidFill>
                <a:latin typeface="Malgun Gothic"/>
                <a:ea typeface="Malgun Gothic"/>
                <a:cs typeface="Malgun Gothic"/>
              </a:defRPr>
            </a:pPr>
            <a:r>
              <a:rPr sz="1425" b="0">
                <a:solidFill>
                  <a:srgbClr val="BED0DA"/>
                </a:solidFill>
                <a:latin typeface="Malgun Gothic"/>
                <a:ea typeface="Malgun Gothic"/>
                <a:cs typeface="Malgun Gothic"/>
              </a:rPr>
              <a:t>영상 클릭 시 재생. 두 녹화본은 별도 실험이며, 오늘 필터의 방어 전후 비교 증거는 아닙니다.</a:t>
            </a:r>
          </a:p>
        </p:txBody>
      </p:sp>
    </p:spTree>
    <p:extLst>
      <p:ext uri="{BB962C8B-B14F-4D97-AF65-F5344CB8AC3E}">
        <p14:creationId val="1355927991"/>
      </p:ext>
    </p:extLst>
  </p:cSld>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E63DF5-D35A-4767-B716-7AB026788292}"/>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솔루션의 핵심</a:t>
            </a:r>
          </a:p>
        </p:txBody>
      </p:sp>
      <p:sp>
        <p:nvSpPr>
          <p:cNvPr id="2" name="">
            <a:extLst xmlns:a="http://schemas.openxmlformats.org/drawingml/2006/main">
              <a:ext uri="{FF2B5EF4-FFF2-40B4-BE49-F238E27FC236}">
                <a16:creationId xmlns:a16="http://schemas.microsoft.com/office/drawing/2014/main" id="{0C7738C0-A544-4CF8-B9CB-F1FAF4F190BE}"/>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정상 작업을 지키는 다단계 필터</a:t>
            </a:r>
          </a:p>
        </p:txBody>
      </p:sp>
      <p:sp>
        <p:nvSpPr>
          <p:cNvPr id="3" name="">
            <a:extLst xmlns:a="http://schemas.openxmlformats.org/drawingml/2006/main">
              <a:ext uri="{FF2B5EF4-FFF2-40B4-BE49-F238E27FC236}">
                <a16:creationId xmlns:a16="http://schemas.microsoft.com/office/drawing/2014/main" id="{68F54BF7-D677-4429-9066-2269F0C82FB6}"/>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9E4830D9-A697-43A4-B269-A0BD4712743C}"/>
              </a:ext>
            </a:extLst>
          </p:cNvPr>
          <p:cNvSpPr>
            <a:spLocks xmlns:a="http://schemas.openxmlformats.org/drawingml/2006/main" noGrp="1"/>
          </p:cNvSpPr>
          <p:nvPr/>
        </p:nvSpPr>
        <p:spPr>
          <a:xfrm xmlns:a="http://schemas.openxmlformats.org/drawingml/2006/main">
            <a:off x="609600" y="1800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입력부터 실행까지, 앞 단계의 통과를 다시 검증합니다</a:t>
            </a:r>
          </a:p>
        </p:txBody>
      </p:sp>
      <p:graphicFrame>
        <p:nvGraphicFramePr>
          <p:cNvPr id="5" name="">
            <a:extLst xmlns:a="http://schemas.openxmlformats.org/drawingml/2006/main">
              <a:ext uri="{FF2B5EF4-FFF2-40B4-BE49-F238E27FC236}">
                <a16:creationId xmlns:a16="http://schemas.microsoft.com/office/drawing/2014/main" id="{15E3B24E-5D27-4667-A76D-130757B18460}"/>
              </a:ext>
            </a:extLst>
          </p:cNvPr>
          <p:cNvGraphicFramePr/>
          <p:nvPr/>
        </p:nvGraphicFramePr>
        <p:xfrm>
          <a:off xmlns:a="http://schemas.openxmlformats.org/drawingml/2006/main" x="609600" y="2486025"/>
          <a:ext xmlns:a="http://schemas.openxmlformats.org/drawingml/2006/main" cx="10972800" cy="2886075"/>
        </p:xfrm>
        <a:graphic xmlns:a="http://schemas.openxmlformats.org/drawingml/2006/main">
          <a:graphicData uri="http://schemas.openxmlformats.org/drawingml/2006/table">
            <a:tbl>
              <a:tblPr/>
              <a:tblGrid>
                <a:gridCol w="2381250"/>
                <a:gridCol w="6096000"/>
                <a:gridCol w="2495550"/>
              </a:tblGrid>
              <a:tr h="577215">
                <a:tc>
                  <a:txBody>
                    <a:bodyPr wrap="square"/>
                    <a:lstStyle/>
                    <a:p>
                      <a:r>
                        <a:rPr sz="1875" b="1">
                          <a:solidFill>
                            <a:srgbClr val="5DE0C0"/>
                          </a:solidFill>
                          <a:latin typeface="Malgun Gothic"/>
                          <a:ea typeface="Malgun Gothic"/>
                          <a:cs typeface="Malgun Gothic"/>
                        </a:rPr>
                        <a:t>검사 단계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걸러내는 내용</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실패하면</a:t>
                      </a:r>
                    </a:p>
                  </a:txBody>
                  <a:tcPr marL="91440" marR="91440" marT="45720" marB="45720" anchor="ctr">
                    <a:solidFill>
                      <a:srgbClr val="173C4C"/>
                    </a:solidFill>
                  </a:tcPr>
                </a:tc>
              </a:tr>
              <a:tr h="577215">
                <a:tc>
                  <a:txBody>
                    <a:bodyPr wrap="square"/>
                    <a:lstStyle/>
                    <a:p>
                      <a:r>
                        <a:rPr sz="1875" b="0">
                          <a:solidFill>
                            <a:srgbClr val="F3F7FA"/>
                          </a:solidFill>
                          <a:latin typeface="Malgun Gothic"/>
                          <a:ea typeface="Malgun Gothic"/>
                          <a:cs typeface="Malgun Gothic"/>
                        </a:rPr>
                        <a:t>F1 · 입력 확인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형식이 맞지 않거나 관측할 수 없는 입력</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보류</a:t>
                      </a:r>
                    </a:p>
                  </a:txBody>
                  <a:tcPr marL="91440" marR="91440" marT="45720" marB="45720" anchor="ctr">
                    <a:solidFill>
                      <a:srgbClr val="102638"/>
                    </a:solidFill>
                  </a:tcPr>
                </a:tc>
              </a:tr>
              <a:tr h="577215">
                <a:tc>
                  <a:txBody>
                    <a:bodyPr wrap="square"/>
                    <a:lstStyle/>
                    <a:p>
                      <a:r>
                        <a:rPr sz="1875" b="0">
                          <a:solidFill>
                            <a:srgbClr val="F3F7FA"/>
                          </a:solidFill>
                          <a:latin typeface="Malgun Gothic"/>
                          <a:ea typeface="Malgun Gothic"/>
                          <a:cs typeface="Malgun Gothic"/>
                        </a:rPr>
                        <a:t>F2 · 작업 대조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승인된 대상·목적지·순서를 벗어난 계획</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75" b="0">
                          <a:solidFill>
                            <a:srgbClr val="F3F7FA"/>
                          </a:solidFill>
                          <a:latin typeface="Malgun Gothic"/>
                          <a:ea typeface="Malgun Gothic"/>
                          <a:cs typeface="Malgun Gothic"/>
                        </a:rPr>
                        <a:t>명령·경로 확인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변환된 명령의 불일치와 이동 경로 충돌</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75" b="0">
                          <a:solidFill>
                            <a:srgbClr val="F3F7FA"/>
                          </a:solidFill>
                          <a:latin typeface="Malgun Gothic"/>
                          <a:ea typeface="Malgun Gothic"/>
                          <a:cs typeface="Malgun Gothic"/>
                        </a:rPr>
                        <a:t>실행 중 감시</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센서 손실·환경 변화·유효하지 않은 허가</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정지·허가 폐기</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D91EFB44-91EB-4D4F-BA19-E618D7F4B58F}"/>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정상 작업 계약은 서버가 관리합니다. 정지 이후에는 새 관측으로 다시 검증합니다.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범위는 로컬 2D 검증이며, Codex AI 실행 연동과 3D 물리 검증은 추가 작업입니다.</a:t>
            </a:r>
          </a:p>
        </p:txBody>
      </p:sp>
    </p:spTree>
    <p:extLst>
      <p:ext uri="{BB962C8B-B14F-4D97-AF65-F5344CB8AC3E}">
        <p14:creationId xmlns:p14="http://schemas.microsoft.com/office/powerpoint/2010/main" val="1010515913"/>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EA58AA9-A08F-4A20-BE4B-CC8BED35E695}"/>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실제 데모</a:t>
            </a:r>
          </a:p>
        </p:txBody>
      </p:sp>
      <p:sp>
        <p:nvSpPr>
          <p:cNvPr id="2" name="">
            <a:extLst xmlns:a="http://schemas.openxmlformats.org/drawingml/2006/main">
              <a:ext uri="{FF2B5EF4-FFF2-40B4-BE49-F238E27FC236}">
                <a16:creationId xmlns:a16="http://schemas.microsoft.com/office/drawing/2014/main" id="{AFD6727D-7854-45B8-B2DC-E2A449CC03D0}"/>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프로토타입에서 확인한 실행 제어</a:t>
            </a:r>
          </a:p>
        </p:txBody>
      </p:sp>
      <p:sp>
        <p:nvSpPr>
          <p:cNvPr id="3" name="">
            <a:extLst xmlns:a="http://schemas.openxmlformats.org/drawingml/2006/main">
              <a:ext uri="{FF2B5EF4-FFF2-40B4-BE49-F238E27FC236}">
                <a16:creationId xmlns:a16="http://schemas.microsoft.com/office/drawing/2014/main" id="{306A3854-50AC-4D30-BFEA-C57FB4236920}"/>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06</a:t>
            </a:r>
          </a:p>
        </p:txBody>
      </p:sp>
      <p:pic>
        <p:nvPicPr>
          <p:cNvPr id="4" name="">
            <a:extLst xmlns:a="http://schemas.openxmlformats.org/drawingml/2006/main">
              <a:ext uri="{FF2B5EF4-FFF2-40B4-BE49-F238E27FC236}">
                <a16:creationId xmlns:a16="http://schemas.microsoft.com/office/drawing/2014/main" id="{438C894A-9CBE-4B7C-AB50-6D5111E51EB5}"/>
              </a:ext>
            </a:extLst>
          </p:cNvPr>
          <p:cNvPicPr>
            <a:picLocks xmlns:a="http://schemas.openxmlformats.org/drawingml/2006/main" noChangeAspect="1"/>
          </p:cNvPicPr>
          <p:nvPr/>
        </p:nvPicPr>
        <p:blipFill>
          <a:blip xmlns:r="http://schemas.openxmlformats.org/officeDocument/2006/relationships" xmlns:a="http://schemas.openxmlformats.org/drawingml/2006/main" r:embed="R05bdd1a74adc4f5d"/>
          <a:stretch xmlns:a="http://schemas.openxmlformats.org/drawingml/2006/main"/>
        </p:blipFill>
        <p:spPr>
          <a:xfrm xmlns:a="http://schemas.openxmlformats.org/drawingml/2006/main">
            <a:off x="609600" y="2017395"/>
            <a:ext cx="4857750" cy="3451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2BF18E-A79A-434A-AAD9-08D5D3CD08D4}"/>
              </a:ext>
            </a:extLst>
          </p:cNvPr>
          <p:cNvSpPr>
            <a:spLocks xmlns:a="http://schemas.openxmlformats.org/drawingml/2006/main" noGrp="1"/>
          </p:cNvSpPr>
          <p:nvPr/>
        </p:nvSpPr>
        <p:spPr>
          <a:xfrm xmlns:a="http://schemas.openxmlformats.org/drawingml/2006/main">
            <a:off x="5943600" y="19716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별도 계약 기반 시험</a:t>
            </a:r>
          </a:p>
        </p:txBody>
      </p:sp>
      <p:sp>
        <p:nvSpPr>
          <p:cNvPr id="6" name="">
            <a:extLst xmlns:a="http://schemas.openxmlformats.org/drawingml/2006/main">
              <a:ext uri="{FF2B5EF4-FFF2-40B4-BE49-F238E27FC236}">
                <a16:creationId xmlns:a16="http://schemas.microsoft.com/office/drawing/2014/main" id="{CD2568A1-22FA-43FF-B782-B5E6C5858B13}"/>
              </a:ext>
            </a:extLst>
          </p:cNvPr>
          <p:cNvSpPr>
            <a:spLocks xmlns:a="http://schemas.openxmlformats.org/drawingml/2006/main" noGrp="1"/>
          </p:cNvSpPr>
          <p:nvPr/>
        </p:nvSpPr>
        <p:spPr>
          <a:xfrm xmlns:a="http://schemas.openxmlformats.org/drawingml/2006/main">
            <a:off x="5943600" y="25241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3F7FA"/>
                </a:solidFill>
                <a:latin typeface="Malgun Gothic"/>
                <a:ea typeface="Malgun Gothic"/>
                <a:cs typeface="Malgun Gothic"/>
              </a:defRPr>
            </a:defPPr>
          </a:lstStyle>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정상 TEXT·IMAGE·IMAGE+TEXT: READY</a:t>
            </a:r>
          </a:p>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순서 충돌: BLOCK</a:t>
            </a:r>
          </a:p>
        </p:txBody>
      </p:sp>
      <p:sp>
        <p:nvSpPr>
          <p:cNvPr id="7" name="">
            <a:extLst xmlns:a="http://schemas.openxmlformats.org/drawingml/2006/main">
              <a:ext uri="{FF2B5EF4-FFF2-40B4-BE49-F238E27FC236}">
                <a16:creationId xmlns:a16="http://schemas.microsoft.com/office/drawing/2014/main" id="{86FFA6BF-910D-4C22-A1FE-5F7ABDC18BC5}"/>
              </a:ext>
            </a:extLst>
          </p:cNvPr>
          <p:cNvSpPr>
            <a:spLocks xmlns:a="http://schemas.openxmlformats.org/drawingml/2006/main" noGrp="1"/>
          </p:cNvSpPr>
          <p:nvPr/>
        </p:nvSpPr>
        <p:spPr>
          <a:xfrm xmlns:a="http://schemas.openxmlformats.org/drawingml/2006/main">
            <a:off x="5943600" y="3657600"/>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2D 모의 실행·중단 제어</a:t>
            </a:r>
          </a:p>
        </p:txBody>
      </p:sp>
      <p:sp>
        <p:nvSpPr>
          <p:cNvPr id="8" name="">
            <a:extLst xmlns:a="http://schemas.openxmlformats.org/drawingml/2006/main">
              <a:ext uri="{FF2B5EF4-FFF2-40B4-BE49-F238E27FC236}">
                <a16:creationId xmlns:a16="http://schemas.microsoft.com/office/drawing/2014/main" id="{0FE1FACC-17D6-4937-A10A-5331CADD093C}"/>
              </a:ext>
            </a:extLst>
          </p:cNvPr>
          <p:cNvSpPr>
            <a:spLocks xmlns:a="http://schemas.openxmlformats.org/drawingml/2006/main" noGrp="1"/>
          </p:cNvSpPr>
          <p:nvPr/>
        </p:nvSpPr>
        <p:spPr>
          <a:xfrm xmlns:a="http://schemas.openxmlformats.org/drawingml/2006/main">
            <a:off x="5943600" y="4200525"/>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정상 운반 8개 명령 완료 기록</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정지 후 기존 허가 폐기</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새 관측 없이 자동 재개 금지</a:t>
            </a:r>
          </a:p>
        </p:txBody>
      </p:sp>
      <p:sp>
        <p:nvSpPr>
          <p:cNvPr id="9" name="">
            <a:extLst xmlns:a="http://schemas.openxmlformats.org/drawingml/2006/main">
              <a:ext uri="{FF2B5EF4-FFF2-40B4-BE49-F238E27FC236}">
                <a16:creationId xmlns:a16="http://schemas.microsoft.com/office/drawing/2014/main" id="{5A1F2B6C-533B-4D75-8933-40A06E1FDB3D}"/>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확인 범위: 2D synthetic replay. Isaac 3D 정상 작업·필터 통합·실제 제동 시간은 미검증입니다.</a:t>
            </a:r>
          </a:p>
        </p:txBody>
      </p:sp>
    </p:spTree>
    <p:extLst>
      <p:ext uri="{BB962C8B-B14F-4D97-AF65-F5344CB8AC3E}">
        <p14:creationId xmlns:p14="http://schemas.microsoft.com/office/powerpoint/2010/main" val="1376298257"/>
      </p:ext>
    </p:extLst>
  </p:cSld>
</p:sld>
</file>

<file path=ppt/slides/slide7.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1B07FD-08A0-4FC8-83C7-557C8D62CC99}"/>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입력 분류 334건</a:t>
            </a:r>
          </a:p>
        </p:txBody>
      </p:sp>
      <p:sp>
        <p:nvSpPr>
          <p:cNvPr id="2" name="">
            <a:extLst xmlns:a="http://schemas.openxmlformats.org/drawingml/2006/main">
              <a:ext uri="{FF2B5EF4-FFF2-40B4-BE49-F238E27FC236}">
                <a16:creationId xmlns:a16="http://schemas.microsoft.com/office/drawing/2014/main" id="{2B7492CD-EB20-4A11-B952-722D44DB448E}"/>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입력 필터의 차단·보류·통과 분포</a:t>
            </a:r>
          </a:p>
        </p:txBody>
      </p:sp>
      <p:sp>
        <p:nvSpPr>
          <p:cNvPr id="3" name="">
            <a:extLst xmlns:a="http://schemas.openxmlformats.org/drawingml/2006/main">
              <a:ext uri="{FF2B5EF4-FFF2-40B4-BE49-F238E27FC236}">
                <a16:creationId xmlns:a16="http://schemas.microsoft.com/office/drawing/2014/main" id="{C9B25781-F533-4B6E-9BA7-E8573E4D154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8002BEED-8642-4EE7-A34E-66A352365A55}"/>
              </a:ext>
            </a:extLst>
          </p:cNvPr>
          <p:cNvSpPr>
            <a:spLocks xmlns:a="http://schemas.openxmlformats.org/drawingml/2006/main" noGrp="1"/>
          </p:cNvSpPr>
          <p:nvPr/>
        </p:nvSpPr>
        <p:spPr>
          <a:xfrm xmlns:a="http://schemas.openxmlformats.org/drawingml/2006/main">
            <a:off x="609600" y="20478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5DE0C0"/>
                </a:solidFill>
                <a:latin typeface="Malgun Gothic"/>
                <a:ea typeface="Malgun Gothic"/>
                <a:cs typeface="Malgun Gothic"/>
              </a:defRPr>
            </a:defPPr>
          </a:lstStyle>
          <a:p xmlns:a="http://schemas.openxmlformats.org/drawingml/2006/main">
            <a:pPr algn="l">
              <a:defRPr sz="6150" b="1">
                <a:solidFill>
                  <a:srgbClr val="5DE0C0"/>
                </a:solidFill>
                <a:latin typeface="Malgun Gothic"/>
                <a:ea typeface="Malgun Gothic"/>
                <a:cs typeface="Malgun Gothic"/>
              </a:defRPr>
            </a:pPr>
            <a:r>
              <a:rPr sz="6150" b="1">
                <a:solidFill>
                  <a:srgbClr val="5DE0C0"/>
                </a:solidFill>
                <a:latin typeface="Malgun Gothic"/>
                <a:ea typeface="Malgun Gothic"/>
                <a:cs typeface="Malgun Gothic"/>
              </a:rPr>
              <a:t>89.63%</a:t>
            </a:r>
          </a:p>
        </p:txBody>
      </p:sp>
      <p:sp>
        <p:nvSpPr>
          <p:cNvPr id="5" name="">
            <a:extLst xmlns:a="http://schemas.openxmlformats.org/drawingml/2006/main">
              <a:ext uri="{FF2B5EF4-FFF2-40B4-BE49-F238E27FC236}">
                <a16:creationId xmlns:a16="http://schemas.microsoft.com/office/drawing/2014/main" id="{454EB485-A2A5-4739-A910-D510DF032D20}"/>
              </a:ext>
            </a:extLst>
          </p:cNvPr>
          <p:cNvSpPr>
            <a:spLocks xmlns:a="http://schemas.openxmlformats.org/drawingml/2006/main" noGrp="1"/>
          </p:cNvSpPr>
          <p:nvPr/>
        </p:nvSpPr>
        <p:spPr>
          <a:xfrm xmlns:a="http://schemas.openxmlformats.org/drawingml/2006/main">
            <a:off x="609600" y="326707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7FA"/>
                </a:solidFill>
                <a:latin typeface="Malgun Gothic"/>
                <a:ea typeface="Malgun Gothic"/>
                <a:cs typeface="Malgun Gothic"/>
              </a:defRPr>
            </a:defPPr>
          </a:lstStyle>
          <a:p xmlns:a="http://schemas.openxmlformats.org/drawingml/2006/main">
            <a:pPr algn="l">
              <a:defRPr sz="2325" b="1">
                <a:solidFill>
                  <a:srgbClr val="F3F7FA"/>
                </a:solidFill>
                <a:latin typeface="Malgun Gothic"/>
                <a:ea typeface="Malgun Gothic"/>
                <a:cs typeface="Malgun Gothic"/>
              </a:defRPr>
            </a:pPr>
            <a:r>
              <a:rPr sz="2325" b="1">
                <a:solidFill>
                  <a:srgbClr val="F3F7FA"/>
                </a:solidFill>
                <a:latin typeface="Malgun Gothic"/>
                <a:ea typeface="Malgun Gothic"/>
                <a:cs typeface="Malgun Gothic"/>
              </a:rPr>
              <a:t>텍스트 공격 라벨 입력 차단</a:t>
            </a:r>
          </a:p>
        </p:txBody>
      </p:sp>
      <p:sp>
        <p:nvSpPr>
          <p:cNvPr id="6" name="">
            <a:extLst xmlns:a="http://schemas.openxmlformats.org/drawingml/2006/main">
              <a:ext uri="{FF2B5EF4-FFF2-40B4-BE49-F238E27FC236}">
                <a16:creationId xmlns:a16="http://schemas.microsoft.com/office/drawing/2014/main" id="{6FEA0296-7600-423E-A473-577759A18827}"/>
              </a:ext>
            </a:extLst>
          </p:cNvPr>
          <p:cNvSpPr>
            <a:spLocks xmlns:a="http://schemas.openxmlformats.org/drawingml/2006/main" noGrp="1"/>
          </p:cNvSpPr>
          <p:nvPr/>
        </p:nvSpPr>
        <p:spPr>
          <a:xfrm xmlns:a="http://schemas.openxmlformats.org/drawingml/2006/main">
            <a:off x="609600" y="39338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7FA"/>
                </a:solidFill>
                <a:latin typeface="Malgun Gothic"/>
                <a:ea typeface="Malgun Gothic"/>
                <a:cs typeface="Malgun Gothic"/>
              </a:defRPr>
            </a:defPPr>
          </a:lstStyle>
          <a:p xmlns:a="http://schemas.openxmlformats.org/drawingml/2006/main">
            <a:pPr algn="l">
              <a:defRPr sz="2550" b="0">
                <a:solidFill>
                  <a:srgbClr val="F3F7FA"/>
                </a:solidFill>
                <a:latin typeface="Malgun Gothic"/>
                <a:ea typeface="Malgun Gothic"/>
                <a:cs typeface="Malgun Gothic"/>
              </a:defRPr>
            </a:pPr>
            <a:r>
              <a:rPr sz="2550" b="0">
                <a:solidFill>
                  <a:srgbClr val="F3F7FA"/>
                </a:solidFill>
                <a:latin typeface="Malgun Gothic"/>
                <a:ea typeface="Malgun Gothic"/>
                <a:cs typeface="Malgun Gothic"/>
              </a:rPr>
              <a:t>242 / 270건</a:t>
            </a:r>
          </a:p>
        </p:txBody>
      </p:sp>
      <p:sp>
        <p:nvSpPr>
          <p:cNvPr id="7" name="">
            <a:extLst xmlns:a="http://schemas.openxmlformats.org/drawingml/2006/main">
              <a:ext uri="{FF2B5EF4-FFF2-40B4-BE49-F238E27FC236}">
                <a16:creationId xmlns:a16="http://schemas.microsoft.com/office/drawing/2014/main" id="{8E11073E-DEFB-45C6-9F73-B27A473002E0}"/>
              </a:ext>
            </a:extLst>
          </p:cNvPr>
          <p:cNvSpPr>
            <a:spLocks xmlns:a="http://schemas.openxmlformats.org/drawingml/2006/main" noGrp="1"/>
          </p:cNvSpPr>
          <p:nvPr/>
        </p:nvSpPr>
        <p:spPr>
          <a:xfrm xmlns:a="http://schemas.openxmlformats.org/drawingml/2006/main">
            <a:off x="609600" y="4714875"/>
            <a:ext cx="5000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통과한 입력은 후속 실행 검증이 필요합니다</a:t>
            </a:r>
          </a:p>
        </p:txBody>
      </p:sp>
      <p:graphicFrame>
        <p:nvGraphicFramePr>
          <p:cNvPr id="8" name="">
            <a:extLst xmlns:a="http://schemas.openxmlformats.org/drawingml/2006/main">
              <a:ext uri="{FF2B5EF4-FFF2-40B4-BE49-F238E27FC236}">
                <a16:creationId xmlns:a16="http://schemas.microsoft.com/office/drawing/2014/main" id="{8E30C611-4358-4E17-ADB2-5FB003523E7C}"/>
              </a:ext>
            </a:extLst>
          </p:cNvPr>
          <p:cNvGraphicFramePr/>
          <p:nvPr/>
        </p:nvGraphicFramePr>
        <p:xfrm>
          <a:off xmlns:a="http://schemas.openxmlformats.org/drawingml/2006/main" x="6200775" y="2076450"/>
          <a:ext xmlns:a="http://schemas.openxmlformats.org/drawingml/2006/main" cx="5381625" cy="2714625"/>
        </p:xfrm>
        <a:graphic xmlns:a="http://schemas.openxmlformats.org/drawingml/2006/main">
          <a:graphicData uri="http://schemas.openxmlformats.org/drawingml/2006/table">
            <a:tbl>
              <a:tblPr/>
              <a:tblGrid>
                <a:gridCol w="1762125"/>
                <a:gridCol w="1238250"/>
                <a:gridCol w="1238250"/>
                <a:gridCol w="1143000"/>
              </a:tblGrid>
              <a:tr h="678656">
                <a:tc>
                  <a:txBody>
                    <a:bodyPr wrap="square"/>
                    <a:lstStyle/>
                    <a:p>
                      <a:r>
                        <a:rPr sz="1800" b="1">
                          <a:solidFill>
                            <a:srgbClr val="5DE0C0"/>
                          </a:solidFill>
                          <a:latin typeface="Malgun Gothic"/>
                          <a:ea typeface="Malgun Gothic"/>
                          <a:cs typeface="Malgun Gothic"/>
                        </a:rPr>
                        <a:t>입력</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차단</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보류</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a:t>
                      </a:r>
                    </a:p>
                  </a:txBody>
                  <a:tcPr marL="91440" marR="91440" marT="45720" marB="45720" anchor="ctr">
                    <a:solidFill>
                      <a:srgbClr val="173C4C"/>
                    </a:solidFill>
                  </a:tcPr>
                </a:tc>
              </a:tr>
              <a:tr h="678656">
                <a:tc>
                  <a:txBody>
                    <a:bodyPr wrap="square"/>
                    <a:lstStyle/>
                    <a:p>
                      <a:r>
                        <a:rPr sz="1800" b="0">
                          <a:solidFill>
                            <a:srgbClr val="F3F7FA"/>
                          </a:solidFill>
                          <a:latin typeface="Malgun Gothic"/>
                          <a:ea typeface="Malgun Gothic"/>
                          <a:cs typeface="Malgun Gothic"/>
                        </a:rPr>
                        <a:t>텍스트 270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242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이미지 64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30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9</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전체 334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267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14</a:t>
                      </a:r>
                    </a:p>
                  </a:txBody>
                  <a:tcPr marL="91440" marR="91440" marT="45720" marB="45720" anchor="ctr">
                    <a:solidFill>
                      <a:srgbClr val="102638"/>
                    </a:solidFill>
                  </a:tcPr>
                </a:tc>
              </a:tr>
            </a:tbl>
          </a:graphicData>
        </a:graphic>
      </p:graphicFrame>
      <p:sp>
        <p:nvSpPr>
          <p:cNvPr id="9" name="">
            <a:extLst xmlns:a="http://schemas.openxmlformats.org/drawingml/2006/main">
              <a:ext uri="{FF2B5EF4-FFF2-40B4-BE49-F238E27FC236}">
                <a16:creationId xmlns:a16="http://schemas.microsoft.com/office/drawing/2014/main" id="{AED00B30-E510-4FC8-AAFF-67D9DCD304DD}"/>
              </a:ext>
            </a:extLst>
          </p:cNvPr>
          <p:cNvSpPr>
            <a:spLocks xmlns:a="http://schemas.openxmlformats.org/drawingml/2006/main" noGrp="1"/>
          </p:cNvSpPr>
          <p:nvPr/>
        </p:nvSpPr>
        <p:spPr>
          <a:xfrm xmlns:a="http://schemas.openxmlformats.org/drawingml/2006/main">
            <a:off x="6200775" y="5019675"/>
            <a:ext cx="538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DE0C0"/>
                </a:solidFill>
                <a:latin typeface="Malgun Gothic"/>
                <a:ea typeface="Malgun Gothic"/>
                <a:cs typeface="Malgun Gothic"/>
              </a:defRPr>
            </a:defPPr>
          </a:lstStyle>
          <a:p xmlns:a="http://schemas.openxmlformats.org/drawingml/2006/main">
            <a:pPr algn="l">
              <a:defRPr sz="1875" b="1">
                <a:solidFill>
                  <a:srgbClr val="5DE0C0"/>
                </a:solidFill>
                <a:latin typeface="Malgun Gothic"/>
                <a:ea typeface="Malgun Gothic"/>
                <a:cs typeface="Malgun Gothic"/>
              </a:defRPr>
            </a:pPr>
            <a:r>
              <a:rPr sz="1875" b="1">
                <a:solidFill>
                  <a:srgbClr val="5DE0C0"/>
                </a:solidFill>
                <a:latin typeface="Malgun Gothic"/>
                <a:ea typeface="Malgun Gothic"/>
                <a:cs typeface="Malgun Gothic"/>
              </a:rPr>
              <a:t>보류는 차단 성공에 합산하지 않습니다</a:t>
            </a:r>
          </a:p>
        </p:txBody>
      </p:sp>
      <p:sp>
        <p:nvSpPr>
          <p:cNvPr id="10" name="">
            <a:extLst xmlns:a="http://schemas.openxmlformats.org/drawingml/2006/main">
              <a:ext uri="{FF2B5EF4-FFF2-40B4-BE49-F238E27FC236}">
                <a16:creationId xmlns:a16="http://schemas.microsoft.com/office/drawing/2014/main" id="{EB1C4971-3778-4B10-824C-CD29EA184152}"/>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입력 선별 결과이며 전체 실행 필터의 방어율·물리 공격 성공률이 아닙니다.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이미지 정답·정상 대조가 없으며, 선정 위험 1~7 전체에 대한 검증은 별도로 필요합니다.</a:t>
            </a:r>
          </a:p>
        </p:txBody>
      </p:sp>
    </p:spTree>
    <p:extLst>
      <p:ext uri="{BB962C8B-B14F-4D97-AF65-F5344CB8AC3E}">
        <p14:creationId xmlns:p14="http://schemas.microsoft.com/office/powerpoint/2010/main" val="1581188447"/>
      </p:ext>
    </p:extLst>
  </p:cSld>
</p:sld>
</file>

<file path=ppt/slides/slide8.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2B3A42-1F45-4B2F-A588-7C5940BECDB4}"/>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개발 과정과 개선</a:t>
            </a:r>
          </a:p>
        </p:txBody>
      </p:sp>
      <p:sp>
        <p:nvSpPr>
          <p:cNvPr id="2" name="">
            <a:extLst xmlns:a="http://schemas.openxmlformats.org/drawingml/2006/main">
              <a:ext uri="{FF2B5EF4-FFF2-40B4-BE49-F238E27FC236}">
                <a16:creationId xmlns:a16="http://schemas.microsoft.com/office/drawing/2014/main" id="{61EB2583-AAC9-4680-A2FD-839551E0C766}"/>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Codex 개발과 성능 개선</a:t>
            </a:r>
          </a:p>
        </p:txBody>
      </p:sp>
      <p:sp>
        <p:nvSpPr>
          <p:cNvPr id="3" name="">
            <a:extLst xmlns:a="http://schemas.openxmlformats.org/drawingml/2006/main">
              <a:ext uri="{FF2B5EF4-FFF2-40B4-BE49-F238E27FC236}">
                <a16:creationId xmlns:a16="http://schemas.microsoft.com/office/drawing/2014/main" id="{BB101838-04DF-45DE-B005-BF389E7E605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00573266-EBB3-49EC-9E4D-B33791343888}"/>
              </a:ext>
            </a:extLst>
          </p:cNvPr>
          <p:cNvSpPr>
            <a:spLocks xmlns:a="http://schemas.openxmlformats.org/drawingml/2006/main" noGrp="1"/>
          </p:cNvSpPr>
          <p:nvPr/>
        </p:nvSpPr>
        <p:spPr>
          <a:xfrm xmlns:a="http://schemas.openxmlformats.org/drawingml/2006/main">
            <a:off x="609600" y="19431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5DE0C0"/>
                </a:solidFill>
                <a:latin typeface="Malgun Gothic"/>
                <a:ea typeface="Malgun Gothic"/>
                <a:cs typeface="Malgun Gothic"/>
              </a:defRPr>
            </a:defPPr>
          </a:lstStyle>
          <a:p xmlns:a="http://schemas.openxmlformats.org/drawingml/2006/main">
            <a:pPr algn="l">
              <a:buNone/>
              <a:defRPr sz="3150" b="1">
                <a:solidFill>
                  <a:srgbClr val="5DE0C0"/>
                </a:solidFill>
                <a:latin typeface="Malgun Gothic"/>
                <a:ea typeface="Malgun Gothic"/>
                <a:cs typeface="Malgun Gothic"/>
              </a:defRPr>
            </a:pPr>
            <a:r>
              <a:rPr sz="3150" b="1">
                <a:solidFill>
                  <a:srgbClr val="5DE0C0"/>
                </a:solidFill>
                <a:latin typeface="Malgun Gothic"/>
                <a:ea typeface="Malgun Gothic"/>
                <a:cs typeface="Malgun Gothic"/>
              </a:rPr>
              <a:t>Python 3.242ms  /  C++ 0.387ms</a:t>
            </a:r>
          </a:p>
        </p:txBody>
      </p:sp>
      <p:sp>
        <p:nvSpPr>
          <p:cNvPr id="5" name="">
            <a:extLst xmlns:a="http://schemas.openxmlformats.org/drawingml/2006/main">
              <a:ext uri="{FF2B5EF4-FFF2-40B4-BE49-F238E27FC236}">
                <a16:creationId xmlns:a16="http://schemas.microsoft.com/office/drawing/2014/main" id="{48423276-4550-4ECA-8661-F5DF8E3BCF97}"/>
              </a:ext>
            </a:extLst>
          </p:cNvPr>
          <p:cNvSpPr>
            <a:spLocks xmlns:a="http://schemas.openxmlformats.org/drawingml/2006/main" noGrp="1"/>
          </p:cNvSpPr>
          <p:nvPr/>
        </p:nvSpPr>
        <p:spPr>
          <a:xfrm xmlns:a="http://schemas.openxmlformats.org/drawingml/2006/main">
            <a:off x="609600" y="2752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2D 기하 검사 p50, 16명령·128장애물, 200회</a:t>
            </a:r>
          </a:p>
        </p:txBody>
      </p:sp>
      <p:graphicFrame>
        <p:nvGraphicFramePr>
          <p:cNvPr id="6" name="">
            <a:extLst xmlns:a="http://schemas.openxmlformats.org/drawingml/2006/main">
              <a:ext uri="{FF2B5EF4-FFF2-40B4-BE49-F238E27FC236}">
                <a16:creationId xmlns:a16="http://schemas.microsoft.com/office/drawing/2014/main" id="{AB737432-2B35-4BA0-BF6B-7DC6E455ED5E}"/>
              </a:ext>
            </a:extLst>
          </p:cNvPr>
          <p:cNvGraphicFramePr/>
          <p:nvPr/>
        </p:nvGraphicFramePr>
        <p:xfrm>
          <a:off xmlns:a="http://schemas.openxmlformats.org/drawingml/2006/main" x="609600" y="3676650"/>
          <a:ext xmlns:a="http://schemas.openxmlformats.org/drawingml/2006/main" cx="10972800" cy="1943100"/>
        </p:xfrm>
        <a:graphic xmlns:a="http://schemas.openxmlformats.org/drawingml/2006/main">
          <a:graphicData uri="http://schemas.openxmlformats.org/drawingml/2006/table">
            <a:tbl>
              <a:tblPr/>
              <a:tblGrid>
                <a:gridCol w="2190750"/>
                <a:gridCol w="8782050"/>
              </a:tblGrid>
              <a:tr h="485775">
                <a:tc>
                  <a:txBody>
                    <a:bodyPr wrap="square"/>
                    <a:lstStyle/>
                    <a:p>
                      <a:r>
                        <a:rPr sz="1875" b="1">
                          <a:solidFill>
                            <a:srgbClr val="5DE0C0"/>
                          </a:solidFill>
                          <a:latin typeface="Malgun Gothic"/>
                          <a:ea typeface="Malgun Gothic"/>
                          <a:cs typeface="Malgun Gothic"/>
                        </a:rPr>
                        <a:t>구분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실제 작업·근거</a:t>
                      </a:r>
                    </a:p>
                  </a:txBody>
                  <a:tcPr marL="91440" marR="91440" marT="45720" marB="45720" anchor="ctr">
                    <a:solidFill>
                      <a:srgbClr val="173C4C"/>
                    </a:solidFill>
                  </a:tcPr>
                </a:tc>
              </a:tr>
              <a:tr h="485775">
                <a:tc>
                  <a:txBody>
                    <a:bodyPr wrap="square"/>
                    <a:lstStyle/>
                    <a:p>
                      <a:r>
                        <a:rPr sz="1875" b="0">
                          <a:solidFill>
                            <a:srgbClr val="F3F7FA"/>
                          </a:solidFill>
                          <a:latin typeface="Malgun Gothic"/>
                          <a:ea typeface="Malgun Gothic"/>
                          <a:cs typeface="Malgun Gothic"/>
                        </a:rPr>
                        <a:t>사전 자산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아이디어 PPT·공격 데이터·Isaac 장면</a:t>
                      </a:r>
                    </a:p>
                  </a:txBody>
                  <a:tcPr marL="91440" marR="91440" marT="45720" marB="45720" anchor="ctr">
                    <a:solidFill>
                      <a:srgbClr val="102638"/>
                    </a:solidFill>
                  </a:tcPr>
                </a:tc>
              </a:tr>
              <a:tr h="485775">
                <a:tc>
                  <a:txBody>
                    <a:bodyPr wrap="square"/>
                    <a:lstStyle/>
                    <a:p>
                      <a:r>
                        <a:rPr sz="1875" b="0">
                          <a:solidFill>
                            <a:srgbClr val="F3F7FA"/>
                          </a:solidFill>
                          <a:latin typeface="Malgun Gothic"/>
                          <a:ea typeface="Malgun Gothic"/>
                          <a:cs typeface="Malgun Gothic"/>
                        </a:rPr>
                        <a:t>오늘 구현</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F1–F3·Adapter·승인 제어·실행 기록·C++ 검사</a:t>
                      </a:r>
                    </a:p>
                  </a:txBody>
                  <a:tcPr marL="91440" marR="91440" marT="45720" marB="45720" anchor="ctr">
                    <a:solidFill>
                      <a:srgbClr val="102638"/>
                    </a:solidFill>
                  </a:tcPr>
                </a:tc>
              </a:tr>
              <a:tr h="485775">
                <a:tc>
                  <a:txBody>
                    <a:bodyPr wrap="square"/>
                    <a:lstStyle/>
                    <a:p>
                      <a:r>
                        <a:rPr sz="1875" b="0">
                          <a:solidFill>
                            <a:srgbClr val="F3F7FA"/>
                          </a:solidFill>
                          <a:latin typeface="Malgun Gothic"/>
                          <a:ea typeface="Malgun Gothic"/>
                          <a:cs typeface="Malgun Gothic"/>
                        </a:rPr>
                        <a:t>독립 검토</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Codex gpt-6-luna / max, 지적 수정 후 재검토</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B40709B6-EE46-4CAF-BC61-82B3F1D7D31E}"/>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로컬 회귀 94 통과·1 건너뜀. 함수 지연 개선은 모델 API·네트워크·3D 실행을 포함한 종단 성능이 아닙니다.</a:t>
            </a:r>
          </a:p>
        </p:txBody>
      </p:sp>
    </p:spTree>
    <p:extLst>
      <p:ext uri="{BB962C8B-B14F-4D97-AF65-F5344CB8AC3E}">
        <p14:creationId xmlns:p14="http://schemas.microsoft.com/office/powerpoint/2010/main" val="2137907429"/>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F9AE0F-2363-4551-A350-8C3641B1D8E2}"/>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사업성과 다음 검증</a:t>
            </a:r>
          </a:p>
        </p:txBody>
      </p:sp>
      <p:sp>
        <p:nvSpPr>
          <p:cNvPr id="2" name="">
            <a:extLst xmlns:a="http://schemas.openxmlformats.org/drawingml/2006/main">
              <a:ext uri="{FF2B5EF4-FFF2-40B4-BE49-F238E27FC236}">
                <a16:creationId xmlns:a16="http://schemas.microsoft.com/office/drawing/2014/main" id="{10892DBF-F1CB-4AA1-9B43-FC07EBF3DCA3}"/>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공통 엔진과 현장 계약으로 도입합니다</a:t>
            </a:r>
          </a:p>
        </p:txBody>
      </p:sp>
      <p:sp>
        <p:nvSpPr>
          <p:cNvPr id="3" name="">
            <a:extLst xmlns:a="http://schemas.openxmlformats.org/drawingml/2006/main">
              <a:ext uri="{FF2B5EF4-FFF2-40B4-BE49-F238E27FC236}">
                <a16:creationId xmlns:a16="http://schemas.microsoft.com/office/drawing/2014/main" id="{2BF5381D-7771-40B1-9551-0C38EE7F287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EDA01C1A-8C15-47A7-970C-BF68E89A50F1}"/>
              </a:ext>
            </a:extLst>
          </p:cNvPr>
          <p:cNvGraphicFramePr/>
          <p:nvPr/>
        </p:nvGraphicFramePr>
        <p:xfrm>
          <a:off xmlns:a="http://schemas.openxmlformats.org/drawingml/2006/main" x="609600" y="1905000"/>
          <a:ext xmlns:a="http://schemas.openxmlformats.org/drawingml/2006/main" cx="10972800" cy="2314575"/>
        </p:xfrm>
        <a:graphic xmlns:a="http://schemas.openxmlformats.org/drawingml/2006/main">
          <a:graphicData uri="http://schemas.openxmlformats.org/drawingml/2006/table">
            <a:tbl>
              <a:tblPr/>
              <a:tblGrid>
                <a:gridCol w="3429000"/>
                <a:gridCol w="7543800"/>
              </a:tblGrid>
              <a:tr h="578644">
                <a:tc>
                  <a:txBody>
                    <a:bodyPr wrap="square"/>
                    <a:lstStyle/>
                    <a:p>
                      <a:r>
                        <a:rPr sz="2100" b="1">
                          <a:solidFill>
                            <a:srgbClr val="5DE0C0"/>
                          </a:solidFill>
                          <a:latin typeface="Malgun Gothic"/>
                          <a:ea typeface="Malgun Gothic"/>
                          <a:cs typeface="Malgun Gothic"/>
                        </a:rPr>
                        <a:t>고객에게 제공</a:t>
                      </a:r>
                    </a:p>
                  </a:txBody>
                  <a:tcPr marL="91440" marR="91440" marT="45720" marB="45720" anchor="ctr">
                    <a:solidFill>
                      <a:srgbClr val="173C4C"/>
                    </a:solidFill>
                  </a:tcPr>
                </a:tc>
                <a:tc>
                  <a:txBody>
                    <a:bodyPr wrap="square"/>
                    <a:lstStyle/>
                    <a:p>
                      <a:r>
                        <a:rPr sz="2100" b="1">
                          <a:solidFill>
                            <a:srgbClr val="5DE0C0"/>
                          </a:solidFill>
                          <a:latin typeface="Malgun Gothic"/>
                          <a:ea typeface="Malgun Gothic"/>
                          <a:cs typeface="Malgun Gothic"/>
                        </a:rPr>
                        <a:t>도입 방식</a:t>
                      </a:r>
                    </a:p>
                  </a:txBody>
                  <a:tcPr marL="91440" marR="91440" marT="45720" marB="45720" anchor="ctr">
                    <a:solidFill>
                      <a:srgbClr val="173C4C"/>
                    </a:solidFill>
                  </a:tcPr>
                </a:tc>
              </a:tr>
              <a:tr h="578644">
                <a:tc>
                  <a:txBody>
                    <a:bodyPr wrap="square"/>
                    <a:lstStyle/>
                    <a:p>
                      <a:r>
                        <a:rPr sz="2100" b="0">
                          <a:solidFill>
                            <a:srgbClr val="F3F7FA"/>
                          </a:solidFill>
                          <a:latin typeface="Malgun Gothic"/>
                          <a:ea typeface="Malgun Gothic"/>
                          <a:cs typeface="Malgun Gothic"/>
                        </a:rPr>
                        <a:t>실행 전 위험 검토</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공통 검증 엔진 + 현장 정상 계약</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장비별 연결</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Adapter와 관측·단위·안전 제약 검증</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분석과 회복</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판정 근거·중단 기록·새 관측 후 재승인</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F28408CC-AC0B-42C6-B6B8-C99CAD23AB66}"/>
              </a:ext>
            </a:extLst>
          </p:cNvPr>
          <p:cNvSpPr>
            <a:spLocks xmlns:a="http://schemas.openxmlformats.org/drawingml/2006/main" noGrp="1"/>
          </p:cNvSpPr>
          <p:nvPr/>
        </p:nvSpPr>
        <p:spPr>
          <a:xfrm xmlns:a="http://schemas.openxmlformats.org/drawingml/2006/main">
            <a:off x="609600" y="458152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다음 단계</a:t>
            </a:r>
          </a:p>
        </p:txBody>
      </p:sp>
      <p:sp>
        <p:nvSpPr>
          <p:cNvPr id="6" name="">
            <a:extLst xmlns:a="http://schemas.openxmlformats.org/drawingml/2006/main">
              <a:ext uri="{FF2B5EF4-FFF2-40B4-BE49-F238E27FC236}">
                <a16:creationId xmlns:a16="http://schemas.microsoft.com/office/drawing/2014/main" id="{C3E5D2E2-ADF9-4A73-BA7A-1AE65CE0D96A}"/>
              </a:ext>
            </a:extLst>
          </p:cNvPr>
          <p:cNvSpPr>
            <a:spLocks xmlns:a="http://schemas.openxmlformats.org/drawingml/2006/main" noGrp="1"/>
          </p:cNvSpPr>
          <p:nvPr/>
        </p:nvSpPr>
        <p:spPr>
          <a:xfrm xmlns:a="http://schemas.openxmlformats.org/drawingml/2006/main">
            <a:off x="3581400" y="4581525"/>
            <a:ext cx="8001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Isaac 정상 기준·필터 통합</a:t>
            </a:r>
          </a:p>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관찰 모드 실증 후 제한된 공정 적용</a:t>
            </a:r>
          </a:p>
        </p:txBody>
      </p:sp>
      <p:sp>
        <p:nvSpPr>
          <p:cNvPr id="7" name="">
            <a:extLst xmlns:a="http://schemas.openxmlformats.org/drawingml/2006/main">
              <a:ext uri="{FF2B5EF4-FFF2-40B4-BE49-F238E27FC236}">
                <a16:creationId xmlns:a16="http://schemas.microsoft.com/office/drawing/2014/main" id="{EA373BF2-C4FC-46A2-B39B-43233A9832CE}"/>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고객 인터뷰·오탐률·미탐률·현장 비용 절감·안전 요건 검증을 거쳐야 하는 도입 가설입니다.</a:t>
            </a:r>
          </a:p>
        </p:txBody>
      </p:sp>
    </p:spTree>
    <p:extLst>
      <p:ext uri="{BB962C8B-B14F-4D97-AF65-F5344CB8AC3E}">
        <p14:creationId xmlns:p14="http://schemas.microsoft.com/office/powerpoint/2010/main" val="544049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2026-10-09T07:40:56.4590000Z</dcterms:created>
  <dcterms:modified xsi:type="dcterms:W3CDTF">2026-10-09T07:40:56.4590000Z</dcterms:modified>
</coreProperties>
</file>